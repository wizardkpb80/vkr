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"/>
  </p:notesMasterIdLst>
  <p:sldIdLst>
    <p:sldId id="271" r:id="rId2"/>
    <p:sldId id="274" r:id="rId3"/>
    <p:sldId id="281" r:id="rId4"/>
    <p:sldId id="273" r:id="rId5"/>
    <p:sldId id="276" r:id="rId6"/>
    <p:sldId id="295" r:id="rId7"/>
    <p:sldId id="296" r:id="rId8"/>
    <p:sldId id="297" r:id="rId9"/>
    <p:sldId id="298" r:id="rId10"/>
    <p:sldId id="299" r:id="rId11"/>
    <p:sldId id="300" r:id="rId12"/>
    <p:sldId id="301" r:id="rId13"/>
    <p:sldId id="302" r:id="rId14"/>
    <p:sldId id="303" r:id="rId15"/>
    <p:sldId id="304" r:id="rId16"/>
    <p:sldId id="289" r:id="rId17"/>
    <p:sldId id="283" r:id="rId1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1E3C"/>
    <a:srgbClr val="0F2D69"/>
    <a:srgbClr val="234B9B"/>
    <a:srgbClr val="F5C3C3"/>
    <a:srgbClr val="CD5A5A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5209" autoAdjust="0"/>
  </p:normalViewPr>
  <p:slideViewPr>
    <p:cSldViewPr snapToGrid="0">
      <p:cViewPr varScale="1">
        <p:scale>
          <a:sx n="106" d="100"/>
          <a:sy n="106" d="100"/>
        </p:scale>
        <p:origin x="7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C4D81D-654F-48DB-A33D-3E6F325A1010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093330-6B9A-4C0D-8499-7E41F07687E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5750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28005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D97F1-EB5F-4263-E990-93C7C76BA4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FDE0759-4B33-6CC6-E992-2670D4CC50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0A0CEDA-4D52-85A1-B492-3BB72319C5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89541FF-BBD1-78B8-4852-781BDB6832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29169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E796D3-5EA3-B724-1FA5-02051FA27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F1FA090-14C1-DDB5-98A4-E9B9FC047C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82908C7-B083-2DBD-EA8E-CEC63DC407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C494C6F-20D4-EE57-8F11-77CB8CF4A3E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995207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028679-09C3-BDDC-3A4E-257D002BC6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E0079A0-5D58-53E1-6980-D95F7CD5AA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812AF0F-D7BB-B039-88A2-038E23A53C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1CC5964-9295-0163-87D2-CCF11A52AA3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535021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881A98-76F5-321B-8EA9-3C0E83FB22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29CF13C-3A28-92A1-40A6-8D0E3866E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3C9E3C0-D15D-FB6E-2583-A25C59A074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5E4A141-214A-8926-CCA4-1FB87537635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070554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E8F97-6FE1-9C84-F3B9-3A756F601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A504A10-F85F-515F-3990-2E19A97592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B11AEDB-1178-823C-0453-C7A21310F0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766C8C0-4898-0369-DD49-2CC08803AB3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130598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0138A-D22F-6EFE-8DD0-73DA713A5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CCE79A4-6086-2C48-DF84-0459661A1B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EAD22DD-0FF4-3C14-8E7B-ACD5641A8D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4C5DFA1-9AA5-C670-D154-B2B7594A75D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62730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DBD4E-3C4E-CA2E-70C4-75CE0FA4E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6D498D4-1119-6B9E-E73B-E1546C216B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05AB7973-7D33-344B-69C6-AC9F8ED93D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50EC37E-C067-6A47-BECF-694454D76A9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53288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5EF4C-9242-C874-9F26-026834A58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F456B00-22FF-0DBA-2299-49C9FD5DD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6EFB17A-5AB8-B509-50A6-5CC9BD7A27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CA15166-3BD8-66C0-67D1-E67ADE9F026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694491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920A4-6CF9-4BA6-CAFF-1F67B841D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DF2D1F1-029B-610B-9701-B6EEAB1916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B03E7DA-CB3B-3B61-2701-FAEBFDA475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F21C095-B2FD-91A4-3494-4A69017211B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816278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EF317A-1F02-1FAD-1569-DEE72C1A28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4B95886-AB1A-2E15-31B2-2D170DBA30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2C6137B-D528-CEFE-08FA-E4D71A779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E08CB42-B729-930C-3277-F0C9F87705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741580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7E6210-8A16-D5A6-9212-D4C5513234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1BAE63C-F284-E731-D60F-5EEDEF5B81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7D88C36-117B-2776-5F48-C2DFD47B45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6EC2591-CFD7-583A-802E-AE535732E94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480695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835648-AC21-3903-9CE8-EDA7D65D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5BD12CF-1B16-4E7A-1DAD-986DAD55B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02185F5-3870-7261-762C-320B88D898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FF9DAFD-BD45-EE02-77CA-0053B356A20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07353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162157-F563-09DB-18F3-DCE21E712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C7D8083-7D74-CF6B-8B25-234B11B119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95167C8-582D-28C9-A722-99F06EE7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590625-EC0F-B18C-8582-0CC95BE1905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960823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FCBB6E-C407-4F47-EA40-4C42D8FFE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07213E6-5F3D-563F-4C0C-E3199CE40A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212EEA6-9EC5-312F-6FBE-C5C1DA2908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0264F9-03EA-DA71-1B67-A9847A6CE38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752257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2E97D-C034-8737-CD8B-07D3A3246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21C92BA-DBED-3085-B0E8-CB6B9033C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E31EF56-2227-8D53-F7DD-97F1FC50E7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F9B7976-57D3-BAD1-F5EA-DF3336323C9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4068086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552F1-E6BF-437A-AEAA-9F425437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C1150E4-2040-519A-0C8F-076389DB49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1A5AE2E-3A49-FB3C-E82C-D60302902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C7F896D-280A-A646-47B0-22F6D4F0B2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093330-6B9A-4C0D-8499-7E41F07687EA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0963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80BFE41-87B8-E0C5-9BCA-378423F997A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6353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38536C4-3B79-8FF0-64F7-D7F85560AD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14694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Прямоугольник 1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Прямоугольник 1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4" name="Прямоугольник 2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3F976F2-5913-92C7-B207-70AEB751D8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0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78213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9AE18B-9CD1-6ACF-B8BF-D5A1940B95D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1" y="136491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5607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B38B0A2-06C9-471A-1ED6-E1E435B951D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1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4353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Прямоугольник 5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402B17A-82FC-4B7D-A137-C083794641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0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81525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3416E00-203E-91CE-7100-6098C8AE80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0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84285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7A9EE3D-CE66-2E25-C53C-F81BB2992D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0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08173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9101049-909A-ABCB-FE26-62A753341C4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84184" y="253682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5755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5C048D9-E87E-7C55-3191-19C74B2809D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1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3934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6"/>
          <p:cNvSpPr/>
          <p:nvPr userDrawn="1"/>
        </p:nvSpPr>
        <p:spPr>
          <a:xfrm>
            <a:off x="-1" y="0"/>
            <a:ext cx="886691" cy="6858000"/>
          </a:xfrm>
          <a:prstGeom prst="rect">
            <a:avLst/>
          </a:prstGeom>
          <a:solidFill>
            <a:srgbClr val="0F2D69"/>
          </a:solidFill>
          <a:ln>
            <a:solidFill>
              <a:srgbClr val="0F2D6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 userDrawn="1"/>
        </p:nvSpPr>
        <p:spPr>
          <a:xfrm>
            <a:off x="891407" y="6055360"/>
            <a:ext cx="4753632" cy="80264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 userDrawn="1"/>
        </p:nvSpPr>
        <p:spPr>
          <a:xfrm>
            <a:off x="893129" y="0"/>
            <a:ext cx="4741260" cy="782320"/>
          </a:xfrm>
          <a:prstGeom prst="rect">
            <a:avLst/>
          </a:prstGeom>
          <a:solidFill>
            <a:srgbClr val="E61E3C"/>
          </a:solidFill>
          <a:ln>
            <a:solidFill>
              <a:srgbClr val="E61E3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/>
          <p:cNvSpPr/>
          <p:nvPr userDrawn="1"/>
        </p:nvSpPr>
        <p:spPr>
          <a:xfrm>
            <a:off x="5642879" y="0"/>
            <a:ext cx="2506980" cy="78232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 userDrawn="1"/>
        </p:nvSpPr>
        <p:spPr>
          <a:xfrm>
            <a:off x="5636260" y="6055360"/>
            <a:ext cx="2506980" cy="802640"/>
          </a:xfrm>
          <a:prstGeom prst="rect">
            <a:avLst/>
          </a:prstGeom>
          <a:solidFill>
            <a:srgbClr val="F5C3C3"/>
          </a:solidFill>
          <a:ln>
            <a:solidFill>
              <a:srgbClr val="F5C3C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/>
          <p:cNvSpPr/>
          <p:nvPr userDrawn="1"/>
        </p:nvSpPr>
        <p:spPr>
          <a:xfrm>
            <a:off x="8160152" y="0"/>
            <a:ext cx="4031848" cy="78232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ямоугольник 12"/>
          <p:cNvSpPr/>
          <p:nvPr userDrawn="1"/>
        </p:nvSpPr>
        <p:spPr>
          <a:xfrm>
            <a:off x="11305311" y="1227"/>
            <a:ext cx="886690" cy="685800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 userDrawn="1"/>
        </p:nvSpPr>
        <p:spPr>
          <a:xfrm>
            <a:off x="8139832" y="6055360"/>
            <a:ext cx="4049138" cy="802640"/>
          </a:xfrm>
          <a:prstGeom prst="rect">
            <a:avLst/>
          </a:prstGeom>
          <a:solidFill>
            <a:srgbClr val="CD5A5A"/>
          </a:solidFill>
          <a:ln>
            <a:solidFill>
              <a:srgbClr val="CD5A5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Rectangle 24">
            <a:extLst>
              <a:ext uri="{FF2B5EF4-FFF2-40B4-BE49-F238E27FC236}">
                <a16:creationId xmlns:a16="http://schemas.microsoft.com/office/drawing/2014/main" id="{99DFB68F-000E-7144-9607-BCE3C40ABFE9}"/>
              </a:ext>
            </a:extLst>
          </p:cNvPr>
          <p:cNvSpPr/>
          <p:nvPr userDrawn="1"/>
        </p:nvSpPr>
        <p:spPr>
          <a:xfrm>
            <a:off x="132681" y="134899"/>
            <a:ext cx="11926638" cy="6602379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rtlCol="0" anchor="ctr"/>
          <a:lstStyle/>
          <a:p>
            <a:pPr algn="ctr"/>
            <a:endParaRPr lang="en-RU"/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86A5804-6C85-F104-3088-1F4FDC0EB06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2681" y="134899"/>
            <a:ext cx="1152525" cy="10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08584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139BA1-5047-414E-8A3F-E19F7F2DED6E}" type="datetimeFigureOut">
              <a:rPr lang="ru-RU" smtClean="0"/>
              <a:t>18.03.2026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83F6F1-63BF-4504-A93A-2FA8850D49A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18408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48">
            <a:extLst>
              <a:ext uri="{FF2B5EF4-FFF2-40B4-BE49-F238E27FC236}">
                <a16:creationId xmlns:a16="http://schemas.microsoft.com/office/drawing/2014/main" id="{46457941-DFD6-9241-8BB6-CA0A3EDA88BB}"/>
              </a:ext>
            </a:extLst>
          </p:cNvPr>
          <p:cNvCxnSpPr>
            <a:cxnSpLocks/>
          </p:cNvCxnSpPr>
          <p:nvPr/>
        </p:nvCxnSpPr>
        <p:spPr>
          <a:xfrm>
            <a:off x="5649835" y="463409"/>
            <a:ext cx="0" cy="840173"/>
          </a:xfrm>
          <a:prstGeom prst="line">
            <a:avLst/>
          </a:prstGeom>
          <a:ln w="1270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50">
            <a:extLst>
              <a:ext uri="{FF2B5EF4-FFF2-40B4-BE49-F238E27FC236}">
                <a16:creationId xmlns:a16="http://schemas.microsoft.com/office/drawing/2014/main" id="{AB235920-EBA7-1044-AF40-A268EBD25FF0}"/>
              </a:ext>
            </a:extLst>
          </p:cNvPr>
          <p:cNvCxnSpPr>
            <a:cxnSpLocks/>
          </p:cNvCxnSpPr>
          <p:nvPr/>
        </p:nvCxnSpPr>
        <p:spPr>
          <a:xfrm>
            <a:off x="8202204" y="463409"/>
            <a:ext cx="0" cy="840173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3541BE7-2DE2-6447-9069-9E74408E6EED}"/>
              </a:ext>
            </a:extLst>
          </p:cNvPr>
          <p:cNvSpPr txBox="1"/>
          <p:nvPr/>
        </p:nvSpPr>
        <p:spPr>
          <a:xfrm>
            <a:off x="8349260" y="491159"/>
            <a:ext cx="20798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Москва</a:t>
            </a:r>
            <a:br>
              <a:rPr lang="ru-RU" sz="1600" dirty="0">
                <a:latin typeface="HSE Sans" panose="02000000000000000000" pitchFamily="2" charset="0"/>
              </a:rPr>
            </a:br>
            <a:r>
              <a:rPr lang="en-US" sz="1600" dirty="0">
                <a:latin typeface="HSE Sans" panose="02000000000000000000" pitchFamily="2" charset="0"/>
              </a:rPr>
              <a:t>202</a:t>
            </a:r>
            <a:r>
              <a:rPr lang="ru-RU" sz="1600" dirty="0">
                <a:latin typeface="HSE Sans" panose="02000000000000000000" pitchFamily="2" charset="0"/>
              </a:rPr>
              <a:t>6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0795D0-177E-C14A-8687-B5C8733160E7}"/>
              </a:ext>
            </a:extLst>
          </p:cNvPr>
          <p:cNvSpPr txBox="1"/>
          <p:nvPr/>
        </p:nvSpPr>
        <p:spPr>
          <a:xfrm>
            <a:off x="1273569" y="2747178"/>
            <a:ext cx="10132991" cy="141577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4300" b="1" dirty="0">
                <a:solidFill>
                  <a:srgbClr val="102D69"/>
                </a:solidFill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11E01D-1267-DEED-5CBD-B46476DE14B0}"/>
              </a:ext>
            </a:extLst>
          </p:cNvPr>
          <p:cNvSpPr txBox="1"/>
          <p:nvPr/>
        </p:nvSpPr>
        <p:spPr>
          <a:xfrm>
            <a:off x="6881776" y="4363266"/>
            <a:ext cx="609750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ru-RU" b="1" i="0" dirty="0">
                <a:solidFill>
                  <a:srgbClr val="1F2328"/>
                </a:solidFill>
                <a:effectLst/>
                <a:latin typeface="-apple-system"/>
              </a:rPr>
              <a:t>Куратор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0" i="0" dirty="0">
                <a:solidFill>
                  <a:srgbClr val="1F2328"/>
                </a:solidFill>
                <a:effectLst/>
                <a:latin typeface="-apple-system"/>
              </a:rPr>
              <a:t> </a:t>
            </a:r>
            <a:r>
              <a:rPr lang="ru-RU" dirty="0">
                <a:solidFill>
                  <a:srgbClr val="1F2328"/>
                </a:solidFill>
                <a:latin typeface="-apple-system"/>
              </a:rPr>
              <a:t>Илья Скворцов</a:t>
            </a:r>
            <a:endParaRPr lang="ru-RU" b="0" i="0" dirty="0">
              <a:solidFill>
                <a:srgbClr val="1F2328"/>
              </a:solidFill>
              <a:effectLst/>
              <a:latin typeface="-apple-system"/>
            </a:endParaRPr>
          </a:p>
          <a:p>
            <a:pPr algn="l"/>
            <a:r>
              <a:rPr lang="ru-RU" b="1" dirty="0">
                <a:solidFill>
                  <a:srgbClr val="1F2328"/>
                </a:solidFill>
                <a:latin typeface="-apple-system"/>
              </a:rPr>
              <a:t>Научный руководитель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dirty="0">
                <a:solidFill>
                  <a:srgbClr val="1F2328"/>
                </a:solidFill>
                <a:latin typeface="-apple-system"/>
              </a:rPr>
              <a:t> </a:t>
            </a:r>
            <a:r>
              <a:rPr lang="ru-RU" dirty="0" err="1">
                <a:solidFill>
                  <a:srgbClr val="1F2328"/>
                </a:solidFill>
                <a:latin typeface="-apple-system"/>
              </a:rPr>
              <a:t>Кантонистова</a:t>
            </a:r>
            <a:r>
              <a:rPr lang="ru-RU" dirty="0">
                <a:solidFill>
                  <a:srgbClr val="1F2328"/>
                </a:solidFill>
                <a:latin typeface="-apple-system"/>
              </a:rPr>
              <a:t> Елена</a:t>
            </a:r>
            <a:endParaRPr lang="ru-RU" b="0" i="0" dirty="0">
              <a:solidFill>
                <a:srgbClr val="1F2328"/>
              </a:solidFill>
              <a:effectLst/>
              <a:latin typeface="-apple-system"/>
            </a:endParaRPr>
          </a:p>
        </p:txBody>
      </p:sp>
    </p:spTree>
    <p:extLst>
      <p:ext uri="{BB962C8B-B14F-4D97-AF65-F5344CB8AC3E}">
        <p14:creationId xmlns:p14="http://schemas.microsoft.com/office/powerpoint/2010/main" val="1371571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16940-938C-E41A-9BC4-88B6F33565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A4B50E68-88CA-F9F2-56D6-D4A6EE8A2B5B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4D695920-A19F-4E64-7014-A69D879ACD65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B7225BA2-8EEE-BD94-6815-C8DE4B8740FF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E222B6F-A94B-1B4A-5A3A-5F469B6C18F5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1B910E0-D635-A968-A778-161735C7B5C9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О проекте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3CC92AAE-9C7A-8929-BB4A-E282E7D8CDBB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443238CE-AD2B-7A56-DDEE-DC4C71FAC814}"/>
              </a:ext>
            </a:extLst>
          </p:cNvPr>
          <p:cNvSpPr txBox="1"/>
          <p:nvPr/>
        </p:nvSpPr>
        <p:spPr>
          <a:xfrm>
            <a:off x="407585" y="1931773"/>
            <a:ext cx="10609574" cy="1533753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b="1" dirty="0">
                <a:latin typeface="HSE Sans" panose="02000000000000000000" pitchFamily="2" charset="0"/>
              </a:rPr>
              <a:t>Объект</a:t>
            </a:r>
            <a:r>
              <a:rPr lang="ru-RU" dirty="0">
                <a:latin typeface="HSE Sans" panose="02000000000000000000" pitchFamily="2" charset="0"/>
              </a:rPr>
              <a:t>: Процесс механической обработки на станках с ЧПУ</a:t>
            </a:r>
          </a:p>
          <a:p>
            <a:pPr>
              <a:spcBef>
                <a:spcPts val="1300"/>
              </a:spcBef>
            </a:pPr>
            <a:r>
              <a:rPr lang="ru-RU" b="1" dirty="0">
                <a:latin typeface="HSE Sans" panose="02000000000000000000" pitchFamily="2" charset="0"/>
              </a:rPr>
              <a:t>Проблема</a:t>
            </a:r>
            <a:r>
              <a:rPr lang="ru-RU" dirty="0">
                <a:latin typeface="HSE Sans" panose="02000000000000000000" pitchFamily="2" charset="0"/>
              </a:rPr>
              <a:t>: Расхождение между расчетным временем в CAM-системах и фактическим достигает 25–40%.</a:t>
            </a:r>
          </a:p>
          <a:p>
            <a:pPr>
              <a:spcBef>
                <a:spcPts val="1300"/>
              </a:spcBef>
            </a:pPr>
            <a:r>
              <a:rPr lang="ru-RU" b="1" dirty="0"/>
              <a:t>Причина:</a:t>
            </a:r>
            <a:r>
              <a:rPr lang="ru-RU" dirty="0"/>
              <a:t> Традиционные методы игнорируют динамику и геометрическую сложность (орнаменты, вензеля)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4301C0-C789-5F24-6E60-65F8C625654B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B77E41A-5661-2C82-C7F6-E6C29AFABA45}"/>
              </a:ext>
            </a:extLst>
          </p:cNvPr>
          <p:cNvSpPr txBox="1"/>
          <p:nvPr/>
        </p:nvSpPr>
        <p:spPr>
          <a:xfrm>
            <a:off x="6158118" y="497315"/>
            <a:ext cx="23467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Введение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DAFD363-7DFD-0EB4-BF5C-6A2547D6B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7101" y="3272413"/>
            <a:ext cx="6210678" cy="2900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7734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2810B0-F6D5-9326-F432-E9C9D12B7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435D5BC8-C72C-BCBC-A4F7-C4D0AB15F394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12F9FFBC-C28F-90C5-4724-36362504B42B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E711511F-F2B8-91E7-8673-E2D596187177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6AFB3F3-9539-3DEC-9D0E-DB547A362307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3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F4B92DC-1923-A22B-7400-584740B1C2D4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Поставленные задачи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1A34B62F-A5F9-9A4A-F94C-9216A53AF08F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50C14EA1-A696-1EAE-4EA4-7250AD7EC804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3740754-80D7-3D40-BA60-141B2FDC8B9A}"/>
              </a:ext>
            </a:extLst>
          </p:cNvPr>
          <p:cNvSpPr txBox="1"/>
          <p:nvPr/>
        </p:nvSpPr>
        <p:spPr>
          <a:xfrm>
            <a:off x="6158118" y="497315"/>
            <a:ext cx="23467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Задачи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B197FEF-1849-A75C-0F82-2947332ED1E6}"/>
              </a:ext>
            </a:extLst>
          </p:cNvPr>
          <p:cNvSpPr txBox="1"/>
          <p:nvPr/>
        </p:nvSpPr>
        <p:spPr>
          <a:xfrm>
            <a:off x="407585" y="2393500"/>
            <a:ext cx="10609574" cy="1700466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Сбор и анализ исторических данных из «1С:Предприятие 8.3».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Интеллектуальная очистка визуального и табличного датасетов.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Построение мультимодальной предиктивной модели (Qwen2.5-VL).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Экспериментальная апробация и оценка экономического эффекта.</a:t>
            </a:r>
          </a:p>
        </p:txBody>
      </p:sp>
    </p:spTree>
    <p:extLst>
      <p:ext uri="{BB962C8B-B14F-4D97-AF65-F5344CB8AC3E}">
        <p14:creationId xmlns:p14="http://schemas.microsoft.com/office/powerpoint/2010/main" val="39240510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C6C8AD-A528-07FA-2F75-0F379BA09F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63697C94-95AB-D2EB-C9D5-EDA8BF76911A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1D510347-EE14-FA17-EADD-7B109639E97E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A77B6F63-6655-912F-7283-FD15EBD2F3F2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0C787DCA-6AF3-1077-70C7-C5E5129FB1CF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2F94503-5095-305D-DD22-AF26190DEF80}"/>
              </a:ext>
            </a:extLst>
          </p:cNvPr>
          <p:cNvSpPr txBox="1"/>
          <p:nvPr/>
        </p:nvSpPr>
        <p:spPr>
          <a:xfrm>
            <a:off x="489976" y="138633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Структура проекта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DE5223CE-07CD-F12B-3339-67270BCAF705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38387BEA-B47C-8725-0DF1-7B41C13DBED0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04D860A-E47F-96D1-4A31-1F07F35A6D1C}"/>
              </a:ext>
            </a:extLst>
          </p:cNvPr>
          <p:cNvSpPr txBox="1"/>
          <p:nvPr/>
        </p:nvSpPr>
        <p:spPr>
          <a:xfrm>
            <a:off x="6158118" y="497315"/>
            <a:ext cx="23467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Структура	</a:t>
            </a:r>
          </a:p>
        </p:txBody>
      </p:sp>
      <p:sp>
        <p:nvSpPr>
          <p:cNvPr id="6" name="Блок-схема: альтернативный процесс 5">
            <a:extLst>
              <a:ext uri="{FF2B5EF4-FFF2-40B4-BE49-F238E27FC236}">
                <a16:creationId xmlns:a16="http://schemas.microsoft.com/office/drawing/2014/main" id="{F23A2EB6-5252-1C6E-9C6A-53FF73E3EF83}"/>
              </a:ext>
            </a:extLst>
          </p:cNvPr>
          <p:cNvSpPr/>
          <p:nvPr/>
        </p:nvSpPr>
        <p:spPr>
          <a:xfrm>
            <a:off x="688064" y="4131817"/>
            <a:ext cx="1548142" cy="878186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Сбор данных</a:t>
            </a:r>
          </a:p>
        </p:txBody>
      </p:sp>
      <p:sp>
        <p:nvSpPr>
          <p:cNvPr id="7" name="Блок-схема: альтернативный процесс 6">
            <a:extLst>
              <a:ext uri="{FF2B5EF4-FFF2-40B4-BE49-F238E27FC236}">
                <a16:creationId xmlns:a16="http://schemas.microsoft.com/office/drawing/2014/main" id="{5113B41A-3CD2-9286-E88E-FBFA4A74603B}"/>
              </a:ext>
            </a:extLst>
          </p:cNvPr>
          <p:cNvSpPr/>
          <p:nvPr/>
        </p:nvSpPr>
        <p:spPr>
          <a:xfrm>
            <a:off x="2388606" y="4131817"/>
            <a:ext cx="1548142" cy="878186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Обработка данных</a:t>
            </a:r>
          </a:p>
        </p:txBody>
      </p:sp>
      <p:sp>
        <p:nvSpPr>
          <p:cNvPr id="10" name="Блок-схема: альтернативный процесс 9">
            <a:extLst>
              <a:ext uri="{FF2B5EF4-FFF2-40B4-BE49-F238E27FC236}">
                <a16:creationId xmlns:a16="http://schemas.microsoft.com/office/drawing/2014/main" id="{D4AD4D70-3B09-DD1E-D2F3-D47069FC12DF}"/>
              </a:ext>
            </a:extLst>
          </p:cNvPr>
          <p:cNvSpPr/>
          <p:nvPr/>
        </p:nvSpPr>
        <p:spPr>
          <a:xfrm>
            <a:off x="4080756" y="4131817"/>
            <a:ext cx="1548142" cy="878186"/>
          </a:xfrm>
          <a:prstGeom prst="flowChartAlternateProcess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Обучение на табличных данных</a:t>
            </a:r>
          </a:p>
        </p:txBody>
      </p:sp>
      <p:sp>
        <p:nvSpPr>
          <p:cNvPr id="11" name="Блок-схема: альтернативный процесс 10">
            <a:extLst>
              <a:ext uri="{FF2B5EF4-FFF2-40B4-BE49-F238E27FC236}">
                <a16:creationId xmlns:a16="http://schemas.microsoft.com/office/drawing/2014/main" id="{F354DFBE-2B81-3185-1A34-980F06C0962D}"/>
              </a:ext>
            </a:extLst>
          </p:cNvPr>
          <p:cNvSpPr/>
          <p:nvPr/>
        </p:nvSpPr>
        <p:spPr>
          <a:xfrm>
            <a:off x="4080756" y="5278999"/>
            <a:ext cx="1548142" cy="878186"/>
          </a:xfrm>
          <a:prstGeom prst="flowChartAlternateProcess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Мультимодальные модели</a:t>
            </a:r>
          </a:p>
        </p:txBody>
      </p: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DFF64300-07ED-E44D-5588-1469B23ADF24}"/>
              </a:ext>
            </a:extLst>
          </p:cNvPr>
          <p:cNvCxnSpPr>
            <a:stCxn id="6" idx="3"/>
            <a:endCxn id="7" idx="1"/>
          </p:cNvCxnSpPr>
          <p:nvPr/>
        </p:nvCxnSpPr>
        <p:spPr>
          <a:xfrm>
            <a:off x="2236206" y="4570910"/>
            <a:ext cx="1524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A595B389-39A7-258B-AE09-187B8898398F}"/>
              </a:ext>
            </a:extLst>
          </p:cNvPr>
          <p:cNvCxnSpPr>
            <a:stCxn id="7" idx="3"/>
            <a:endCxn id="10" idx="1"/>
          </p:cNvCxnSpPr>
          <p:nvPr/>
        </p:nvCxnSpPr>
        <p:spPr>
          <a:xfrm>
            <a:off x="3936748" y="4570910"/>
            <a:ext cx="1440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>
            <a:extLst>
              <a:ext uri="{FF2B5EF4-FFF2-40B4-BE49-F238E27FC236}">
                <a16:creationId xmlns:a16="http://schemas.microsoft.com/office/drawing/2014/main" id="{B4FEC2D7-7A26-ECD4-DEBD-D82220D0C13E}"/>
              </a:ext>
            </a:extLst>
          </p:cNvPr>
          <p:cNvCxnSpPr>
            <a:stCxn id="7" idx="2"/>
            <a:endCxn id="11" idx="1"/>
          </p:cNvCxnSpPr>
          <p:nvPr/>
        </p:nvCxnSpPr>
        <p:spPr>
          <a:xfrm>
            <a:off x="3162677" y="5010003"/>
            <a:ext cx="918079" cy="7080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Блок-схема: альтернативный процесс 19">
            <a:extLst>
              <a:ext uri="{FF2B5EF4-FFF2-40B4-BE49-F238E27FC236}">
                <a16:creationId xmlns:a16="http://schemas.microsoft.com/office/drawing/2014/main" id="{0468CE5B-71E2-0238-7433-27C276D591CE}"/>
              </a:ext>
            </a:extLst>
          </p:cNvPr>
          <p:cNvSpPr/>
          <p:nvPr/>
        </p:nvSpPr>
        <p:spPr>
          <a:xfrm>
            <a:off x="5791463" y="4131817"/>
            <a:ext cx="1548142" cy="878186"/>
          </a:xfrm>
          <a:prstGeom prst="flowChartAlternateProcess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Прогнозирование</a:t>
            </a:r>
          </a:p>
        </p:txBody>
      </p:sp>
      <p:sp>
        <p:nvSpPr>
          <p:cNvPr id="21" name="Блок-схема: альтернативный процесс 20">
            <a:extLst>
              <a:ext uri="{FF2B5EF4-FFF2-40B4-BE49-F238E27FC236}">
                <a16:creationId xmlns:a16="http://schemas.microsoft.com/office/drawing/2014/main" id="{C3FB82FD-173B-AD88-8B4F-7F8B547C7918}"/>
              </a:ext>
            </a:extLst>
          </p:cNvPr>
          <p:cNvSpPr/>
          <p:nvPr/>
        </p:nvSpPr>
        <p:spPr>
          <a:xfrm>
            <a:off x="7502169" y="4142387"/>
            <a:ext cx="1836597" cy="878186"/>
          </a:xfrm>
          <a:prstGeom prst="flowChartAlternateProcess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Логирование результатов</a:t>
            </a:r>
          </a:p>
        </p:txBody>
      </p:sp>
      <p:cxnSp>
        <p:nvCxnSpPr>
          <p:cNvPr id="30" name="Прямая со стрелкой 29">
            <a:extLst>
              <a:ext uri="{FF2B5EF4-FFF2-40B4-BE49-F238E27FC236}">
                <a16:creationId xmlns:a16="http://schemas.microsoft.com/office/drawing/2014/main" id="{98E91A9C-9EC5-685E-A483-91A50B89A4E0}"/>
              </a:ext>
            </a:extLst>
          </p:cNvPr>
          <p:cNvCxnSpPr>
            <a:stCxn id="11" idx="3"/>
            <a:endCxn id="20" idx="2"/>
          </p:cNvCxnSpPr>
          <p:nvPr/>
        </p:nvCxnSpPr>
        <p:spPr>
          <a:xfrm flipV="1">
            <a:off x="5628898" y="5010003"/>
            <a:ext cx="936636" cy="708089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Прямая со стрелкой 31">
            <a:extLst>
              <a:ext uri="{FF2B5EF4-FFF2-40B4-BE49-F238E27FC236}">
                <a16:creationId xmlns:a16="http://schemas.microsoft.com/office/drawing/2014/main" id="{3E68B2A3-7432-F325-7012-F2E996068AA1}"/>
              </a:ext>
            </a:extLst>
          </p:cNvPr>
          <p:cNvCxnSpPr>
            <a:stCxn id="10" idx="3"/>
            <a:endCxn id="20" idx="1"/>
          </p:cNvCxnSpPr>
          <p:nvPr/>
        </p:nvCxnSpPr>
        <p:spPr>
          <a:xfrm>
            <a:off x="5628898" y="4570910"/>
            <a:ext cx="162565" cy="0"/>
          </a:xfrm>
          <a:prstGeom prst="straightConnector1">
            <a:avLst/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D0D13197-2AB4-2122-30DE-58EE6B4BF5B5}"/>
              </a:ext>
            </a:extLst>
          </p:cNvPr>
          <p:cNvCxnSpPr>
            <a:cxnSpLocks/>
            <a:stCxn id="20" idx="3"/>
            <a:endCxn id="21" idx="1"/>
          </p:cNvCxnSpPr>
          <p:nvPr/>
        </p:nvCxnSpPr>
        <p:spPr>
          <a:xfrm>
            <a:off x="7339605" y="4570910"/>
            <a:ext cx="162564" cy="10570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Блок-схема: альтернативный процесс 36">
            <a:extLst>
              <a:ext uri="{FF2B5EF4-FFF2-40B4-BE49-F238E27FC236}">
                <a16:creationId xmlns:a16="http://schemas.microsoft.com/office/drawing/2014/main" id="{13773AF2-B815-2E4F-C54F-758EC35785CA}"/>
              </a:ext>
            </a:extLst>
          </p:cNvPr>
          <p:cNvSpPr/>
          <p:nvPr/>
        </p:nvSpPr>
        <p:spPr>
          <a:xfrm>
            <a:off x="9575438" y="4142387"/>
            <a:ext cx="1548142" cy="878186"/>
          </a:xfrm>
          <a:prstGeom prst="flowChartAlternateProcess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Генерация отчётов</a:t>
            </a:r>
          </a:p>
        </p:txBody>
      </p:sp>
      <p:cxnSp>
        <p:nvCxnSpPr>
          <p:cNvPr id="39" name="Прямая со стрелкой 38">
            <a:extLst>
              <a:ext uri="{FF2B5EF4-FFF2-40B4-BE49-F238E27FC236}">
                <a16:creationId xmlns:a16="http://schemas.microsoft.com/office/drawing/2014/main" id="{5511184B-8EFC-B885-7527-421A6A30368B}"/>
              </a:ext>
            </a:extLst>
          </p:cNvPr>
          <p:cNvCxnSpPr>
            <a:cxnSpLocks/>
            <a:stCxn id="21" idx="3"/>
            <a:endCxn id="37" idx="1"/>
          </p:cNvCxnSpPr>
          <p:nvPr/>
        </p:nvCxnSpPr>
        <p:spPr>
          <a:xfrm>
            <a:off x="9338766" y="4581480"/>
            <a:ext cx="2366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Блок-схема: альтернативный процесс 4">
            <a:extLst>
              <a:ext uri="{FF2B5EF4-FFF2-40B4-BE49-F238E27FC236}">
                <a16:creationId xmlns:a16="http://schemas.microsoft.com/office/drawing/2014/main" id="{60918107-15B0-4227-F8A7-18F194BFC18F}"/>
              </a:ext>
            </a:extLst>
          </p:cNvPr>
          <p:cNvSpPr/>
          <p:nvPr/>
        </p:nvSpPr>
        <p:spPr>
          <a:xfrm>
            <a:off x="5849275" y="5275069"/>
            <a:ext cx="1717370" cy="878186"/>
          </a:xfrm>
          <a:prstGeom prst="flowChartAlternateProcess">
            <a:avLst/>
          </a:prstGeom>
          <a:solidFill>
            <a:schemeClr val="tx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/>
              <a:t>Улучшения</a:t>
            </a: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7F7C6AA5-930F-C028-4D0D-E5E1183B7514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5628898" y="5703591"/>
            <a:ext cx="220377" cy="105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 стрелкой 16">
            <a:extLst>
              <a:ext uri="{FF2B5EF4-FFF2-40B4-BE49-F238E27FC236}">
                <a16:creationId xmlns:a16="http://schemas.microsoft.com/office/drawing/2014/main" id="{3A4E12CB-EE00-545C-999D-71A95D53CBAC}"/>
              </a:ext>
            </a:extLst>
          </p:cNvPr>
          <p:cNvCxnSpPr/>
          <p:nvPr/>
        </p:nvCxnSpPr>
        <p:spPr>
          <a:xfrm flipV="1">
            <a:off x="7566645" y="5020573"/>
            <a:ext cx="853822" cy="7589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A5590C24-2F49-B977-E8F8-3704A9EF03C3}"/>
              </a:ext>
            </a:extLst>
          </p:cNvPr>
          <p:cNvSpPr txBox="1"/>
          <p:nvPr/>
        </p:nvSpPr>
        <p:spPr>
          <a:xfrm>
            <a:off x="486676" y="2083639"/>
            <a:ext cx="10609574" cy="125675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Теоретический обзор, постановка задачи и выбор стека (Qwen2.5, </a:t>
            </a:r>
            <a:r>
              <a:rPr lang="ru-RU" dirty="0" err="1">
                <a:latin typeface="HSE Sans" panose="02000000000000000000" pitchFamily="2" charset="0"/>
              </a:rPr>
              <a:t>LoRA</a:t>
            </a:r>
            <a:r>
              <a:rPr lang="ru-RU" dirty="0">
                <a:latin typeface="HSE Sans" panose="02000000000000000000" pitchFamily="2" charset="0"/>
              </a:rPr>
              <a:t>)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Программная реализация, инженерия признаков и дообучение модели. 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Интеграция в производство и расчет экономического эффекта.</a:t>
            </a:r>
          </a:p>
        </p:txBody>
      </p:sp>
    </p:spTree>
    <p:extLst>
      <p:ext uri="{BB962C8B-B14F-4D97-AF65-F5344CB8AC3E}">
        <p14:creationId xmlns:p14="http://schemas.microsoft.com/office/powerpoint/2010/main" val="6806582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7768E-038F-D39B-F70E-84196608E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E6570292-0CB8-7151-7314-107265A70316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007B6FEE-3282-A2A5-D4CE-AC4F23D7AD1D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2862EFE5-6DD4-61A5-FE48-1D393B506376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E342F2E-88D1-CF26-0BFC-5EBEC352B849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5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68F0933-9BA8-73A8-85B5-D8A6AF479EB9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5912153-E1F6-F790-B826-5E2B98F1B4BD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A4D2886-5FA3-2F2A-D2EB-EB53CBB08315}"/>
              </a:ext>
            </a:extLst>
          </p:cNvPr>
          <p:cNvSpPr txBox="1"/>
          <p:nvPr/>
        </p:nvSpPr>
        <p:spPr>
          <a:xfrm>
            <a:off x="6158119" y="497315"/>
            <a:ext cx="3990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Сбор данных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22FEF22-D5C1-478E-2A68-4B083049C682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Сбор данных и интеграция гетерогенных источников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150E5-E6D9-7D1B-09B4-9D1CE80AC8D5}"/>
              </a:ext>
            </a:extLst>
          </p:cNvPr>
          <p:cNvSpPr txBox="1"/>
          <p:nvPr/>
        </p:nvSpPr>
        <p:spPr>
          <a:xfrm>
            <a:off x="407585" y="2393500"/>
            <a:ext cx="10609574" cy="125675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Период сбора: 3 года работы участка.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Источники: журналы ЧПУ, CAD-модели (STL), </a:t>
            </a:r>
            <a:r>
              <a:rPr lang="ru-RU" dirty="0" err="1">
                <a:latin typeface="HSE Sans" panose="02000000000000000000" pitchFamily="2" charset="0"/>
              </a:rPr>
              <a:t>техкарты</a:t>
            </a:r>
            <a:r>
              <a:rPr lang="ru-RU" dirty="0">
                <a:latin typeface="HSE Sans" panose="02000000000000000000" pitchFamily="2" charset="0"/>
              </a:rPr>
              <a:t> 1С.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Объем: более 5000 уникальных записей.</a:t>
            </a:r>
          </a:p>
        </p:txBody>
      </p:sp>
    </p:spTree>
    <p:extLst>
      <p:ext uri="{BB962C8B-B14F-4D97-AF65-F5344CB8AC3E}">
        <p14:creationId xmlns:p14="http://schemas.microsoft.com/office/powerpoint/2010/main" val="1400597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293F48-FEBB-154B-BD72-1563CE867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691001AF-5B71-BD53-9667-A0B12A139C14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634940F6-4ADC-B3A6-7C05-0D322F73268C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49B87F08-0D1C-049C-5D7C-BCAF803F8B66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986D3AD-725E-E9AF-2EEB-1AC916DEF82F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6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8894BC1D-5F23-94CF-C552-10A215672954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97401AE3-49F1-DF73-0F4F-DF8D74B1EC20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68C5A5C-CCF9-9FB2-364E-969FFAEE1E68}"/>
              </a:ext>
            </a:extLst>
          </p:cNvPr>
          <p:cNvSpPr txBox="1"/>
          <p:nvPr/>
        </p:nvSpPr>
        <p:spPr>
          <a:xfrm>
            <a:off x="6158119" y="497315"/>
            <a:ext cx="3990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EDA(</a:t>
            </a:r>
            <a:r>
              <a:rPr lang="ru-RU" dirty="0"/>
              <a:t>Выявление аномалий</a:t>
            </a:r>
            <a:r>
              <a:rPr lang="en-US" dirty="0"/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7FABE00-5494-E09B-0D9E-7EB29C0C3D1D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Исследовательский анализ данных: Выявление аномалий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66F3B3-B43A-F81C-5FC4-4DEC8FD1CBE3}"/>
              </a:ext>
            </a:extLst>
          </p:cNvPr>
          <p:cNvSpPr txBox="1"/>
          <p:nvPr/>
        </p:nvSpPr>
        <p:spPr>
          <a:xfrm>
            <a:off x="407585" y="2393500"/>
            <a:ext cx="10609574" cy="125675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Обнаружено: до 15% записей содержат аномалии (сбои, ошибки регистрации).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Метод очистки: алгоритм «Изолированного леса» (</a:t>
            </a:r>
            <a:r>
              <a:rPr lang="ru-RU" dirty="0" err="1">
                <a:latin typeface="HSE Sans" panose="02000000000000000000" pitchFamily="2" charset="0"/>
              </a:rPr>
              <a:t>Isolation</a:t>
            </a:r>
            <a:r>
              <a:rPr lang="ru-RU" dirty="0">
                <a:latin typeface="HSE Sans" panose="02000000000000000000" pitchFamily="2" charset="0"/>
              </a:rPr>
              <a:t> </a:t>
            </a:r>
            <a:r>
              <a:rPr lang="ru-RU" dirty="0" err="1">
                <a:latin typeface="HSE Sans" panose="02000000000000000000" pitchFamily="2" charset="0"/>
              </a:rPr>
              <a:t>Forest</a:t>
            </a:r>
            <a:r>
              <a:rPr lang="ru-RU" dirty="0">
                <a:latin typeface="HSE Sans" panose="02000000000000000000" pitchFamily="2" charset="0"/>
              </a:rPr>
              <a:t>).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Результат: снижение шума на 12%</a:t>
            </a:r>
          </a:p>
        </p:txBody>
      </p:sp>
    </p:spTree>
    <p:extLst>
      <p:ext uri="{BB962C8B-B14F-4D97-AF65-F5344CB8AC3E}">
        <p14:creationId xmlns:p14="http://schemas.microsoft.com/office/powerpoint/2010/main" val="19624127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B30A9-82D9-1844-3778-ABC7D11DC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09C83690-9CC1-BE4D-E90D-28BA69C0D51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C8C064C6-F5EA-33F8-CA69-563FD7B7E879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3DAF4933-5521-F7B9-DB5D-B6CDDCD05078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3BAF6CE-1378-2E82-42F5-807D0B1F225E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7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B83DFAE7-9AB3-7C55-BCD7-11BDA3C8EFFE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4DBC145-7305-1773-B0A3-9B47C12986C0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72CBCA7-C1BB-A6F4-96B9-FF5DCC04E92E}"/>
              </a:ext>
            </a:extLst>
          </p:cNvPr>
          <p:cNvSpPr txBox="1"/>
          <p:nvPr/>
        </p:nvSpPr>
        <p:spPr>
          <a:xfrm>
            <a:off x="6158119" y="497315"/>
            <a:ext cx="399081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EDA(</a:t>
            </a:r>
            <a:r>
              <a:rPr lang="ru-RU" dirty="0"/>
              <a:t>Анализ и важность факторов</a:t>
            </a:r>
            <a:r>
              <a:rPr lang="en-US" dirty="0"/>
              <a:t>)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99EA78A-06EF-D0A0-42B3-DAE607323AC7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Корреляционный анализ и важность факторов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FA2F8C3-2F60-3159-5B6C-EEE9A6C2F7CC}"/>
              </a:ext>
            </a:extLst>
          </p:cNvPr>
          <p:cNvSpPr txBox="1"/>
          <p:nvPr/>
        </p:nvSpPr>
        <p:spPr>
          <a:xfrm>
            <a:off x="407585" y="2393500"/>
            <a:ext cx="10609574" cy="1090042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Выявлена прямая зависимость (0.68) между визуальной плотностью мелких элементов и ошибкой прогноза.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Факторы влияния: количество переходов, глубина фрезерования и твердость материала.</a:t>
            </a:r>
          </a:p>
        </p:txBody>
      </p:sp>
    </p:spTree>
    <p:extLst>
      <p:ext uri="{BB962C8B-B14F-4D97-AF65-F5344CB8AC3E}">
        <p14:creationId xmlns:p14="http://schemas.microsoft.com/office/powerpoint/2010/main" val="39570888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36FB52-8937-73CF-BB1B-8619E54FB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25585A7E-7C19-5A96-8CC7-2C1F5AD491E0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12980491-65D5-6C83-9940-957F7B92E478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9617A50E-3B5C-2C58-8CE9-6FBD3551573D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148B167-FA20-FD98-BAFE-612BA03C9305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8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4AD5B2A0-3FD8-A707-D3E2-3226450A7693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C6C8C90-5243-0084-CAC1-E6F2EDDDD985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5DB3A7-40F0-BA6D-D5F5-CA371681EDF0}"/>
              </a:ext>
            </a:extLst>
          </p:cNvPr>
          <p:cNvSpPr txBox="1"/>
          <p:nvPr/>
        </p:nvSpPr>
        <p:spPr>
          <a:xfrm>
            <a:off x="6194333" y="497315"/>
            <a:ext cx="426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Признаковое пространство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285C3E-B352-28FA-575D-382C69E4676E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Формирование признакового пространства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41C1C8-F18B-10C2-1DA6-5313003B8F74}"/>
              </a:ext>
            </a:extLst>
          </p:cNvPr>
          <p:cNvSpPr txBox="1"/>
          <p:nvPr/>
        </p:nvSpPr>
        <p:spPr>
          <a:xfrm>
            <a:off x="407585" y="2393500"/>
            <a:ext cx="10609574" cy="813043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Табличные: 32 производных признака (площадь, объем съема, плотность заказа)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Визуальные: признаки «сложности стиля» через Vision-Language модель (микротекст, радиусы &lt; 0.5 мм).</a:t>
            </a:r>
          </a:p>
        </p:txBody>
      </p:sp>
    </p:spTree>
    <p:extLst>
      <p:ext uri="{BB962C8B-B14F-4D97-AF65-F5344CB8AC3E}">
        <p14:creationId xmlns:p14="http://schemas.microsoft.com/office/powerpoint/2010/main" val="16453680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8E3342-7A5F-0482-EAB5-1C4208CFA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1016EFE6-BEC3-CDCF-B134-E6DA867AF76F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E3C34971-4A51-FF01-79D9-ADE3D55946A6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1D0A6F87-1AD9-5CBE-A1FD-840FA55ED60B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F73AEC2B-4320-5CB8-7516-CFD5131E5215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9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A59558BF-1656-5117-C148-F84931288D46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35A2816-FD97-DED4-326B-C735537C0A5D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A3447E2-827A-03DB-A434-DA0B7CC4F325}"/>
              </a:ext>
            </a:extLst>
          </p:cNvPr>
          <p:cNvSpPr txBox="1"/>
          <p:nvPr/>
        </p:nvSpPr>
        <p:spPr>
          <a:xfrm>
            <a:off x="6158119" y="497315"/>
            <a:ext cx="426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Архитектура решения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532F205-E4A6-E623-8F15-1815E13CCF09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Архитектура решения: Двухконтурная модель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0E06F3F-B2DD-2487-108B-C74CF44DE176}"/>
              </a:ext>
            </a:extLst>
          </p:cNvPr>
          <p:cNvSpPr txBox="1"/>
          <p:nvPr/>
        </p:nvSpPr>
        <p:spPr>
          <a:xfrm>
            <a:off x="407585" y="2393500"/>
            <a:ext cx="10609574" cy="813043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Контур 1 (Табличный): Градиентный </a:t>
            </a:r>
            <a:r>
              <a:rPr lang="ru-RU" dirty="0" err="1">
                <a:latin typeface="HSE Sans" panose="02000000000000000000" pitchFamily="2" charset="0"/>
              </a:rPr>
              <a:t>бустинг</a:t>
            </a:r>
            <a:r>
              <a:rPr lang="ru-RU" dirty="0">
                <a:latin typeface="HSE Sans" panose="02000000000000000000" pitchFamily="2" charset="0"/>
              </a:rPr>
              <a:t> (</a:t>
            </a:r>
            <a:r>
              <a:rPr lang="ru-RU" dirty="0" err="1">
                <a:latin typeface="HSE Sans" panose="02000000000000000000" pitchFamily="2" charset="0"/>
              </a:rPr>
              <a:t>LightGBM</a:t>
            </a:r>
            <a:r>
              <a:rPr lang="ru-RU" dirty="0">
                <a:latin typeface="HSE Sans" panose="02000000000000000000" pitchFamily="2" charset="0"/>
              </a:rPr>
              <a:t>) для типовых операций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Контур 2 (Когнитивный): Qwen2.5-VL для анализа сложной геометрии.</a:t>
            </a:r>
          </a:p>
        </p:txBody>
      </p:sp>
    </p:spTree>
    <p:extLst>
      <p:ext uri="{BB962C8B-B14F-4D97-AF65-F5344CB8AC3E}">
        <p14:creationId xmlns:p14="http://schemas.microsoft.com/office/powerpoint/2010/main" val="12042816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248B7-9E1C-4BDA-8673-1937DD9429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36CD2F0E-D9C9-7204-B6FC-CCBB41960F54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1699F8F0-3843-0AEA-30F7-8DB5454E0151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0FBE8B37-5E34-5CF8-A376-95E98FC8EF11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91B04C37-5C5D-1EF5-9C91-6C718DA47A28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10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F5D01136-A234-2DF3-20B9-8ADB358E30AA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8E428BD1-5844-0DC5-E4E7-68E8284403ED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DCF59D2-84A5-161F-A40F-1FEE9534D9BC}"/>
              </a:ext>
            </a:extLst>
          </p:cNvPr>
          <p:cNvSpPr txBox="1"/>
          <p:nvPr/>
        </p:nvSpPr>
        <p:spPr>
          <a:xfrm>
            <a:off x="6158119" y="497315"/>
            <a:ext cx="426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Методология дообучения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CD5231A-71AD-3AFF-7E42-2D79E68CFE05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Методология дообучения: </a:t>
            </a:r>
            <a:r>
              <a:rPr lang="ru-RU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QLoRA</a:t>
            </a: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 и </a:t>
            </a:r>
            <a:r>
              <a:rPr lang="ru-RU" sz="2400" dirty="0" err="1">
                <a:solidFill>
                  <a:srgbClr val="102D69"/>
                </a:solidFill>
                <a:latin typeface="HSE Sans" panose="02000000000000000000" pitchFamily="2" charset="0"/>
              </a:rPr>
              <a:t>LoRA</a:t>
            </a:r>
            <a:endParaRPr lang="ru-RU" sz="2400" dirty="0">
              <a:solidFill>
                <a:srgbClr val="102D69"/>
              </a:solidFill>
              <a:latin typeface="HSE Sans" panose="02000000000000000000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5CF84D4-5E74-ECD9-FE0C-52C721E34B35}"/>
              </a:ext>
            </a:extLst>
          </p:cNvPr>
          <p:cNvSpPr txBox="1"/>
          <p:nvPr/>
        </p:nvSpPr>
        <p:spPr>
          <a:xfrm>
            <a:off x="407585" y="2393500"/>
            <a:ext cx="10609574" cy="813043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Использование 4-битной квантизации для работы на мощностях предприятия (16 ГБ VRAM).</a:t>
            </a:r>
          </a:p>
          <a:p>
            <a:pPr>
              <a:spcBef>
                <a:spcPts val="1300"/>
              </a:spcBef>
            </a:pPr>
            <a:r>
              <a:rPr lang="ru-RU" dirty="0" err="1">
                <a:latin typeface="HSE Sans" panose="02000000000000000000" pitchFamily="2" charset="0"/>
              </a:rPr>
              <a:t>Низкоранговая</a:t>
            </a:r>
            <a:r>
              <a:rPr lang="ru-RU" dirty="0">
                <a:latin typeface="HSE Sans" panose="02000000000000000000" pitchFamily="2" charset="0"/>
              </a:rPr>
              <a:t> адаптация (</a:t>
            </a:r>
            <a:r>
              <a:rPr lang="ru-RU" dirty="0" err="1">
                <a:latin typeface="HSE Sans" panose="02000000000000000000" pitchFamily="2" charset="0"/>
              </a:rPr>
              <a:t>LoRA</a:t>
            </a:r>
            <a:r>
              <a:rPr lang="ru-RU" dirty="0">
                <a:latin typeface="HSE Sans" panose="02000000000000000000" pitchFamily="2" charset="0"/>
              </a:rPr>
              <a:t>) для настройки на узкоспециализированный домен.</a:t>
            </a:r>
          </a:p>
        </p:txBody>
      </p:sp>
    </p:spTree>
    <p:extLst>
      <p:ext uri="{BB962C8B-B14F-4D97-AF65-F5344CB8AC3E}">
        <p14:creationId xmlns:p14="http://schemas.microsoft.com/office/powerpoint/2010/main" val="16197681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537646-24CD-4701-1121-A052DFCC25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589CC8C3-0408-EAE0-FAA4-E13315D07C80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F14C7ED4-ACBA-659D-E7C5-C43692904EFD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12C5C2AB-383B-0F34-8F23-867E86928FAD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3823E3F-E198-EBA8-745E-850E4B275763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11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17A90325-E755-1DAA-E38E-454BB533B389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244D9281-05E4-1313-3256-EF8FDD5687AC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9E630DD-704F-7DA3-FFFC-6D04B28E4105}"/>
              </a:ext>
            </a:extLst>
          </p:cNvPr>
          <p:cNvSpPr txBox="1"/>
          <p:nvPr/>
        </p:nvSpPr>
        <p:spPr>
          <a:xfrm>
            <a:off x="6158119" y="497315"/>
            <a:ext cx="426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Метрики качества прогнозирования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AFD3CDC-FA56-A285-A7AC-88C2532F7788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Метрики качества прогнозирования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1635E32-46F9-0739-AF06-5AD7580432E4}"/>
              </a:ext>
            </a:extLst>
          </p:cNvPr>
          <p:cNvSpPr txBox="1"/>
          <p:nvPr/>
        </p:nvSpPr>
        <p:spPr>
          <a:xfrm>
            <a:off x="407585" y="2393500"/>
            <a:ext cx="10609574" cy="125675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R² (Коэффициент детерминации): 0.58.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MAE (Средняя абсолютная ошибка): снижение с 200 мин до 40 мин (в типовом диапазоне).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Вариация ошибок: менее 9%.</a:t>
            </a:r>
          </a:p>
        </p:txBody>
      </p:sp>
    </p:spTree>
    <p:extLst>
      <p:ext uri="{BB962C8B-B14F-4D97-AF65-F5344CB8AC3E}">
        <p14:creationId xmlns:p14="http://schemas.microsoft.com/office/powerpoint/2010/main" val="16622364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63C22F-B67B-3191-33EE-D07E40DA4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78A1D8E3-C7D4-904F-9D8B-91AB46D2EDD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027D2285-0C56-35C8-CA24-4F0E4C3C5A2B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E377DBAE-199B-1FE4-7A93-DFA501C99322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5AE2D30-A8FC-ACA2-14D7-BF41330454DF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12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3603180-997F-BD71-B379-B79ED7674D12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E61C527-1141-A2D9-9CB1-429FCEAFD502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B70122E-F4C4-9132-CCFC-D56DEF21E6AA}"/>
              </a:ext>
            </a:extLst>
          </p:cNvPr>
          <p:cNvSpPr txBox="1"/>
          <p:nvPr/>
        </p:nvSpPr>
        <p:spPr>
          <a:xfrm>
            <a:off x="6158119" y="497315"/>
            <a:ext cx="426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Сравнение результатов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C7FBF4-1E2A-F23E-4AC5-BEEC25B06D06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Сравнение результатов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23181D5-88A5-51C8-5F39-01F81A0B4B2F}"/>
              </a:ext>
            </a:extLst>
          </p:cNvPr>
          <p:cNvSpPr txBox="1"/>
          <p:nvPr/>
        </p:nvSpPr>
        <p:spPr>
          <a:xfrm>
            <a:off x="407585" y="2393500"/>
            <a:ext cx="10609574" cy="813043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Визуализация точности «теневого тестирования».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Сравнение ИИ-модели с традиционными эвристиками: MAE снизилась с 23.4% до 12.1%.</a:t>
            </a:r>
          </a:p>
        </p:txBody>
      </p:sp>
    </p:spTree>
    <p:extLst>
      <p:ext uri="{BB962C8B-B14F-4D97-AF65-F5344CB8AC3E}">
        <p14:creationId xmlns:p14="http://schemas.microsoft.com/office/powerpoint/2010/main" val="12501366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A61A5-B7C4-C98E-2C51-AD93C55415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83ACF8C2-6E20-7AE5-81E7-0DC0CED09E48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23D78C44-6472-829C-F829-ACF62D4B80EC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7D347C2E-A717-BEFE-4CE7-CF8BD829E1CD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F114D23-B9DB-AC5E-A4FB-196102208852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13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322975B3-404E-0D9E-38F6-5C86D55A6437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E50AF7D-4B4B-98BC-F6B3-6A7C376877A8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1C04693-B326-8D49-EC84-B9A2BDBD5B48}"/>
              </a:ext>
            </a:extLst>
          </p:cNvPr>
          <p:cNvSpPr txBox="1"/>
          <p:nvPr/>
        </p:nvSpPr>
        <p:spPr>
          <a:xfrm>
            <a:off x="6158119" y="497315"/>
            <a:ext cx="426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Практическая интеграция и </a:t>
            </a:r>
            <a:r>
              <a:rPr lang="en-US" dirty="0"/>
              <a:t>MES-</a:t>
            </a:r>
            <a:r>
              <a:rPr lang="ru-RU" dirty="0"/>
              <a:t>системы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4D32796-9EFF-27D1-E727-965D842A556D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Практическая интеграция и </a:t>
            </a:r>
            <a:r>
              <a:rPr lang="en-US" sz="2400" dirty="0">
                <a:solidFill>
                  <a:srgbClr val="102D69"/>
                </a:solidFill>
                <a:latin typeface="HSE Sans" panose="02000000000000000000" pitchFamily="2" charset="0"/>
              </a:rPr>
              <a:t>MES-</a:t>
            </a:r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системы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B0070A3-4804-231F-ED56-31E4777FB481}"/>
              </a:ext>
            </a:extLst>
          </p:cNvPr>
          <p:cNvSpPr txBox="1"/>
          <p:nvPr/>
        </p:nvSpPr>
        <p:spPr>
          <a:xfrm>
            <a:off x="407585" y="2393500"/>
            <a:ext cx="10609574" cy="125675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Разработка протоколов обмена данными между ИИ-модулем и MES/ERP.</a:t>
            </a:r>
          </a:p>
          <a:p>
            <a:pPr>
              <a:spcBef>
                <a:spcPts val="1300"/>
              </a:spcBef>
            </a:pPr>
            <a:endParaRPr lang="ru-RU" dirty="0">
              <a:latin typeface="HSE Sans" panose="02000000000000000000" pitchFamily="2" charset="0"/>
            </a:endParaRP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Сценарии обучения персонала и интерпретации рекомендаций системы.</a:t>
            </a:r>
          </a:p>
        </p:txBody>
      </p:sp>
    </p:spTree>
    <p:extLst>
      <p:ext uri="{BB962C8B-B14F-4D97-AF65-F5344CB8AC3E}">
        <p14:creationId xmlns:p14="http://schemas.microsoft.com/office/powerpoint/2010/main" val="2885725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445CE-086D-4B1D-BBFA-EA8612C50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91A8365F-42E7-4AE5-94A7-F032CE39CFCD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EB32576F-45AA-CFD8-2C1B-F438A75153E2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2901053A-B496-806F-724F-0B802F3D336B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8D9FE1F7-0227-7B20-3B6A-F5FA7BA55514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14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89F11972-A886-79A8-8088-0FDD6C5C8920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003CB1A-90E1-5552-38DB-7AB93F70239A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E448B2F-8D68-C19F-B855-3F0468E061DA}"/>
              </a:ext>
            </a:extLst>
          </p:cNvPr>
          <p:cNvSpPr txBox="1"/>
          <p:nvPr/>
        </p:nvSpPr>
        <p:spPr>
          <a:xfrm>
            <a:off x="6158119" y="497315"/>
            <a:ext cx="426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Экономический эффект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B620E5A-D8CB-FE6D-5490-9DDE527A6500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Экономический эффект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44CC24-0C90-7D6B-B298-F81CE1CB678A}"/>
              </a:ext>
            </a:extLst>
          </p:cNvPr>
          <p:cNvSpPr txBox="1"/>
          <p:nvPr/>
        </p:nvSpPr>
        <p:spPr>
          <a:xfrm>
            <a:off x="407585" y="2393500"/>
            <a:ext cx="10609574" cy="125675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Сокращение простоев станков: 15–20%.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Снижение энергозатрат: 12–18%.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Рост общей производительности участка: 8–10%.</a:t>
            </a:r>
          </a:p>
        </p:txBody>
      </p:sp>
    </p:spTree>
    <p:extLst>
      <p:ext uri="{BB962C8B-B14F-4D97-AF65-F5344CB8AC3E}">
        <p14:creationId xmlns:p14="http://schemas.microsoft.com/office/powerpoint/2010/main" val="31786483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A87E5-3E05-A7D8-B55F-93443A7BD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E11A7E34-3D73-95C5-4726-9AF5396A7CD2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12C4F08B-D876-D166-3DA4-88DBD2247B93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76793F4A-DC4D-3DC2-ABA9-D0609F79D447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0CE5013-88D1-F028-3218-494A78AE12DA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15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66154697-FBEF-C08F-A5F1-3CA2BE28C4AF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F89DB699-E5F8-F2B1-B3F8-7984EE620A8A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3DA154F-8A67-E6CA-F032-22A22B35BB39}"/>
              </a:ext>
            </a:extLst>
          </p:cNvPr>
          <p:cNvSpPr txBox="1"/>
          <p:nvPr/>
        </p:nvSpPr>
        <p:spPr>
          <a:xfrm>
            <a:off x="6158119" y="497315"/>
            <a:ext cx="426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Заключение	</a:t>
            </a:r>
            <a:endParaRPr lang="ru-RU" dirty="0">
              <a:latin typeface="HSE Sans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6AD364E-DD7D-C560-00A3-F3970F562765}"/>
              </a:ext>
            </a:extLst>
          </p:cNvPr>
          <p:cNvSpPr txBox="1"/>
          <p:nvPr/>
        </p:nvSpPr>
        <p:spPr>
          <a:xfrm>
            <a:off x="489975" y="1396903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solidFill>
                  <a:srgbClr val="102D69"/>
                </a:solidFill>
                <a:latin typeface="HSE Sans" panose="02000000000000000000" pitchFamily="2" charset="0"/>
              </a:rPr>
              <a:t>Выводы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940DC3E-1BED-E9D8-C743-9947A3829498}"/>
              </a:ext>
            </a:extLst>
          </p:cNvPr>
          <p:cNvSpPr txBox="1"/>
          <p:nvPr/>
        </p:nvSpPr>
        <p:spPr>
          <a:xfrm>
            <a:off x="407585" y="2393500"/>
            <a:ext cx="10609574" cy="1256754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Разработан мультимодальный комплекс, снижающий неопределенность планирования в 2.1 раза.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Научная новизна подтверждена учетом реальной физики процесса через визуальный анализ.</a:t>
            </a:r>
          </a:p>
          <a:p>
            <a:pPr>
              <a:spcBef>
                <a:spcPts val="1300"/>
              </a:spcBef>
            </a:pPr>
            <a:r>
              <a:rPr lang="ru-RU" dirty="0">
                <a:latin typeface="HSE Sans" panose="02000000000000000000" pitchFamily="2" charset="0"/>
              </a:rPr>
              <a:t>Система готова к масштабированию на онлайн-обучение.</a:t>
            </a:r>
          </a:p>
        </p:txBody>
      </p:sp>
    </p:spTree>
    <p:extLst>
      <p:ext uri="{BB962C8B-B14F-4D97-AF65-F5344CB8AC3E}">
        <p14:creationId xmlns:p14="http://schemas.microsoft.com/office/powerpoint/2010/main" val="33860637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31B63-148F-7C02-82CA-69C76213BA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06C0C912-4B89-506C-2AE6-0C6FD046F4B3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0755644E-2717-F43E-735A-8913B54C3E40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81ABA648-C334-5C68-C0E1-DFECD3D07705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FCB6702-AD79-0767-5499-DA092B12FACC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6F3F910-A30E-11BF-81A0-97D9456A0BB9}"/>
              </a:ext>
            </a:extLst>
          </p:cNvPr>
          <p:cNvSpPr txBox="1"/>
          <p:nvPr/>
        </p:nvSpPr>
        <p:spPr>
          <a:xfrm>
            <a:off x="548131" y="897425"/>
            <a:ext cx="10132991" cy="461665"/>
          </a:xfrm>
          <a:prstGeom prst="rect">
            <a:avLst/>
          </a:prstGeom>
          <a:noFill/>
        </p:spPr>
        <p:txBody>
          <a:bodyPr wrap="square" rtlCol="0" anchor="t" anchorCtr="0">
            <a:spAutoFit/>
          </a:bodyPr>
          <a:lstStyle/>
          <a:p>
            <a:r>
              <a:rPr lang="ru-RU" sz="2400" dirty="0">
                <a:latin typeface="HSE Sans" panose="02000000000000000000" pitchFamily="2" charset="0"/>
              </a:rPr>
              <a:t>Сравнение моделей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03733FA7-C93F-33A3-9466-D82D07F37E08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DF5CE23A-9A1F-160E-84A2-95DF85BC482F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684234-491B-E638-050E-1A444B01B9A4}"/>
              </a:ext>
            </a:extLst>
          </p:cNvPr>
          <p:cNvSpPr txBox="1"/>
          <p:nvPr/>
        </p:nvSpPr>
        <p:spPr>
          <a:xfrm>
            <a:off x="6158118" y="497315"/>
            <a:ext cx="23467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Для примера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B036140B-008F-4B4E-2C54-EEE51D1F40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886659"/>
              </p:ext>
            </p:extLst>
          </p:nvPr>
        </p:nvGraphicFramePr>
        <p:xfrm>
          <a:off x="178102" y="1297535"/>
          <a:ext cx="11688014" cy="55194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8056">
                  <a:extLst>
                    <a:ext uri="{9D8B030D-6E8A-4147-A177-3AD203B41FA5}">
                      <a16:colId xmlns:a16="http://schemas.microsoft.com/office/drawing/2014/main" val="825188357"/>
                    </a:ext>
                  </a:extLst>
                </a:gridCol>
                <a:gridCol w="2154725">
                  <a:extLst>
                    <a:ext uri="{9D8B030D-6E8A-4147-A177-3AD203B41FA5}">
                      <a16:colId xmlns:a16="http://schemas.microsoft.com/office/drawing/2014/main" val="47371881"/>
                    </a:ext>
                  </a:extLst>
                </a:gridCol>
                <a:gridCol w="2154725">
                  <a:extLst>
                    <a:ext uri="{9D8B030D-6E8A-4147-A177-3AD203B41FA5}">
                      <a16:colId xmlns:a16="http://schemas.microsoft.com/office/drawing/2014/main" val="1084039578"/>
                    </a:ext>
                  </a:extLst>
                </a:gridCol>
                <a:gridCol w="2169089">
                  <a:extLst>
                    <a:ext uri="{9D8B030D-6E8A-4147-A177-3AD203B41FA5}">
                      <a16:colId xmlns:a16="http://schemas.microsoft.com/office/drawing/2014/main" val="2501779522"/>
                    </a:ext>
                  </a:extLst>
                </a:gridCol>
                <a:gridCol w="2172929">
                  <a:extLst>
                    <a:ext uri="{9D8B030D-6E8A-4147-A177-3AD203B41FA5}">
                      <a16:colId xmlns:a16="http://schemas.microsoft.com/office/drawing/2014/main" val="360469784"/>
                    </a:ext>
                  </a:extLst>
                </a:gridCol>
                <a:gridCol w="2348490">
                  <a:extLst>
                    <a:ext uri="{9D8B030D-6E8A-4147-A177-3AD203B41FA5}">
                      <a16:colId xmlns:a16="http://schemas.microsoft.com/office/drawing/2014/main" val="1958544668"/>
                    </a:ext>
                  </a:extLst>
                </a:gridCol>
              </a:tblGrid>
              <a:tr h="397859">
                <a:tc>
                  <a:txBody>
                    <a:bodyPr/>
                    <a:lstStyle/>
                    <a:p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SE Sans" panose="02000000000000000000"/>
                        </a:rPr>
                        <a:t>Seasonal Naive Method </a:t>
                      </a:r>
                      <a:endParaRPr lang="ru-RU" sz="1800" dirty="0">
                        <a:latin typeface="HSE Sans" panose="02000000000000000000" pitchFamily="2" charset="0"/>
                      </a:endParaRPr>
                    </a:p>
                    <a:p>
                      <a:endParaRPr lang="en-US" sz="1600" dirty="0">
                        <a:latin typeface="HSE Sans" panose="02000000000000000000"/>
                      </a:endParaRPr>
                    </a:p>
                    <a:p>
                      <a:r>
                        <a:rPr lang="en-US" sz="1600" dirty="0" err="1">
                          <a:latin typeface="HSE Sans" panose="02000000000000000000"/>
                        </a:rPr>
                        <a:t>mse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mae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rmse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mape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r2</a:t>
                      </a:r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SE Sans" panose="02000000000000000000"/>
                        </a:rPr>
                        <a:t> Linear Regression Model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latin typeface="HSE Sans" panose="0200000000000000000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latin typeface="HSE Sans" panose="02000000000000000000"/>
                        </a:rPr>
                        <a:t>mse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mae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rmse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mape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r2</a:t>
                      </a:r>
                      <a:endParaRPr lang="ru-RU" sz="1600" dirty="0"/>
                    </a:p>
                    <a:p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SE Sans" panose="02000000000000000000"/>
                        </a:rPr>
                        <a:t>Polynomial Regression Model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>
                        <a:latin typeface="HSE Sans" panose="0200000000000000000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latin typeface="HSE Sans" panose="02000000000000000000"/>
                        </a:rPr>
                        <a:t>mse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mae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rmse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mape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r2</a:t>
                      </a:r>
                      <a:endParaRPr lang="ru-RU" sz="1600" dirty="0"/>
                    </a:p>
                    <a:p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SE Sans" panose="02000000000000000000"/>
                        </a:rPr>
                        <a:t>Nonlinear Autoregressive Models (NAR/NARX)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latin typeface="HSE Sans" panose="02000000000000000000"/>
                        </a:rPr>
                        <a:t>mse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mae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rmse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mape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r2</a:t>
                      </a:r>
                      <a:endParaRPr lang="ru-RU" sz="1600" dirty="0"/>
                    </a:p>
                    <a:p>
                      <a:endParaRPr lang="ru-RU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dirty="0">
                          <a:latin typeface="HSE Sans" panose="02000000000000000000"/>
                        </a:rPr>
                        <a:t>Auto ARIMA Model</a:t>
                      </a:r>
                    </a:p>
                    <a:p>
                      <a:endParaRPr lang="en-US" sz="1800" dirty="0">
                        <a:latin typeface="HSE Sans" panose="02000000000000000000"/>
                      </a:endParaRPr>
                    </a:p>
                    <a:p>
                      <a:endParaRPr lang="en-US" sz="1800" dirty="0">
                        <a:latin typeface="HSE Sans" panose="0200000000000000000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dirty="0" err="1">
                          <a:latin typeface="HSE Sans" panose="02000000000000000000"/>
                        </a:rPr>
                        <a:t>mse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mae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 </a:t>
                      </a:r>
                      <a:r>
                        <a:rPr lang="en-US" sz="1600" dirty="0" err="1">
                          <a:latin typeface="HSE Sans" panose="02000000000000000000"/>
                        </a:rPr>
                        <a:t>rmse</a:t>
                      </a:r>
                      <a:r>
                        <a:rPr lang="en-US" sz="1600" dirty="0">
                          <a:latin typeface="HSE Sans" panose="02000000000000000000"/>
                        </a:rPr>
                        <a:t>  r2</a:t>
                      </a:r>
                      <a:endParaRPr lang="ru-RU" sz="1600" dirty="0"/>
                    </a:p>
                    <a:p>
                      <a:endParaRPr lang="ru-RU" sz="1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8144029"/>
                  </a:ext>
                </a:extLst>
              </a:tr>
              <a:tr h="2177175">
                <a:tc>
                  <a:txBody>
                    <a:bodyPr/>
                    <a:lstStyle/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IBM</a:t>
                      </a:r>
                      <a:br>
                        <a:rPr lang="ru-RU" sz="1600" dirty="0">
                          <a:latin typeface="HSE Sans" panose="02000000000000000000" pitchFamily="2" charset="0"/>
                        </a:rPr>
                      </a:br>
                      <a:endParaRPr lang="en-US" sz="1600" dirty="0">
                        <a:latin typeface="HSE Sans" panose="02000000000000000000"/>
                      </a:endParaRP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EPAM</a:t>
                      </a:r>
                      <a:br>
                        <a:rPr lang="ru-RU" sz="1600" dirty="0">
                          <a:latin typeface="HSE Sans" panose="02000000000000000000" pitchFamily="2" charset="0"/>
                        </a:rPr>
                      </a:br>
                      <a:endParaRPr lang="en-US" sz="1600" dirty="0">
                        <a:latin typeface="HSE Sans" panose="02000000000000000000"/>
                      </a:endParaRP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CNXC</a:t>
                      </a:r>
                      <a:br>
                        <a:rPr lang="ru-RU" sz="1600" dirty="0">
                          <a:latin typeface="HSE Sans" panose="02000000000000000000" pitchFamily="2" charset="0"/>
                        </a:rPr>
                      </a:br>
                      <a:endParaRPr lang="en-US" sz="1600" dirty="0">
                        <a:latin typeface="HSE Sans" panose="02000000000000000000"/>
                      </a:endParaRP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GLOB</a:t>
                      </a:r>
                      <a:br>
                        <a:rPr lang="ru-RU" sz="1600" dirty="0">
                          <a:latin typeface="HSE Sans" panose="02000000000000000000" pitchFamily="2" charset="0"/>
                        </a:rPr>
                      </a:br>
                      <a:endParaRPr lang="en-US" sz="1600" dirty="0">
                        <a:latin typeface="HSE Sans" panose="02000000000000000000"/>
                      </a:endParaRP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CACI</a:t>
                      </a:r>
                      <a:br>
                        <a:rPr lang="ru-RU" sz="1600" dirty="0">
                          <a:latin typeface="HSE Sans" panose="02000000000000000000" pitchFamily="2" charset="0"/>
                        </a:rPr>
                      </a:br>
                      <a:endParaRPr lang="en-US" sz="1600" dirty="0">
                        <a:latin typeface="HSE Sans" panose="02000000000000000000"/>
                      </a:endParaRP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CTSH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728.123 </a:t>
                      </a:r>
                      <a:r>
                        <a:rPr lang="ru-RU" sz="1600" dirty="0">
                          <a:latin typeface="HSE Sans" panose="02000000000000000000" pitchFamily="2" charset="0"/>
                        </a:rPr>
                        <a:t>  </a:t>
                      </a:r>
                      <a:r>
                        <a:rPr lang="en-US" sz="1600" dirty="0">
                          <a:latin typeface="HSE Sans" panose="02000000000000000000"/>
                        </a:rPr>
                        <a:t>21.043 </a:t>
                      </a:r>
                      <a:r>
                        <a:rPr lang="ru-RU" sz="1600" dirty="0">
                          <a:latin typeface="HSE Sans" panose="02000000000000000000" pitchFamily="2" charset="0"/>
                        </a:rPr>
                        <a:t>  </a:t>
                      </a:r>
                      <a:r>
                        <a:rPr lang="en-US" sz="1600" dirty="0">
                          <a:latin typeface="HSE Sans" panose="02000000000000000000"/>
                        </a:rPr>
                        <a:t>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   26.98 </a:t>
                      </a:r>
                      <a:r>
                        <a:rPr lang="ru-RU" sz="1600" dirty="0">
                          <a:latin typeface="HSE Sans" panose="02000000000000000000" pitchFamily="2" charset="0"/>
                        </a:rPr>
                        <a:t> </a:t>
                      </a:r>
                      <a:r>
                        <a:rPr lang="en-US" sz="1600" dirty="0">
                          <a:latin typeface="HSE Sans" panose="02000000000000000000"/>
                        </a:rPr>
                        <a:t>  16.13% </a:t>
                      </a:r>
                      <a:r>
                        <a:rPr lang="ru-RU" sz="1600" dirty="0">
                          <a:latin typeface="HSE Sans" panose="02000000000000000000" pitchFamily="2" charset="0"/>
                        </a:rPr>
                        <a:t>  </a:t>
                      </a:r>
                      <a:r>
                        <a:rPr lang="en-US" sz="1600" dirty="0">
                          <a:latin typeface="HSE Sans" panose="02000000000000000000"/>
                        </a:rPr>
                        <a:t> 0.47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19321.1 90.776  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     139.  42.66% </a:t>
                      </a:r>
                      <a:r>
                        <a:rPr lang="ru-RU" sz="1600" dirty="0">
                          <a:latin typeface="HSE Sans" panose="02000000000000000000" pitchFamily="2" charset="0"/>
                        </a:rPr>
                        <a:t>  </a:t>
                      </a:r>
                      <a:r>
                        <a:rPr lang="en-US" sz="1600" dirty="0">
                          <a:latin typeface="HSE Sans" panose="02000000000000000000"/>
                        </a:rPr>
                        <a:t>   0.13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3882.02  55.719 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     62.30 68.59% </a:t>
                      </a:r>
                      <a:r>
                        <a:rPr lang="ru-RU" sz="1600" dirty="0">
                          <a:latin typeface="HSE Sans" panose="02000000000000000000" pitchFamily="2" charset="0"/>
                        </a:rPr>
                        <a:t>  </a:t>
                      </a:r>
                      <a:r>
                        <a:rPr lang="en-US" sz="1600" dirty="0">
                          <a:latin typeface="HSE Sans" panose="02000000000000000000"/>
                        </a:rPr>
                        <a:t>-3.35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4984.82 50.817 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    70.6    37.00% </a:t>
                      </a:r>
                      <a:r>
                        <a:rPr lang="ru-RU" sz="1600" dirty="0">
                          <a:latin typeface="HSE Sans" panose="02000000000000000000" pitchFamily="2" charset="0"/>
                        </a:rPr>
                        <a:t>   </a:t>
                      </a:r>
                      <a:r>
                        <a:rPr lang="en-US" sz="1600" dirty="0">
                          <a:latin typeface="HSE Sans" panose="02000000000000000000"/>
                        </a:rPr>
                        <a:t>0.24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1523.84 25.432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     39.03 21.16% </a:t>
                      </a:r>
                      <a:r>
                        <a:rPr lang="ru-RU" sz="1600" dirty="0">
                          <a:latin typeface="HSE Sans" panose="02000000000000000000" pitchFamily="2" charset="0"/>
                        </a:rPr>
                        <a:t>   </a:t>
                      </a:r>
                      <a:r>
                        <a:rPr lang="en-US" sz="1600" dirty="0">
                          <a:latin typeface="HSE Sans" panose="02000000000000000000"/>
                        </a:rPr>
                        <a:t>0.86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585.28  19.321  </a:t>
                      </a:r>
                      <a:br>
                        <a:rPr lang="ru-RU" sz="1600" dirty="0">
                          <a:latin typeface="HSE Sans" panose="02000000000000000000" pitchFamily="2" charset="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   24.19 41.15% </a:t>
                      </a:r>
                      <a:r>
                        <a:rPr lang="ru-RU" sz="1600" dirty="0">
                          <a:latin typeface="HSE Sans" panose="02000000000000000000" pitchFamily="2" charset="0"/>
                        </a:rPr>
                        <a:t>  </a:t>
                      </a:r>
                      <a:r>
                        <a:rPr lang="en-US" sz="1600" dirty="0">
                          <a:latin typeface="HSE Sans" panose="02000000000000000000"/>
                        </a:rPr>
                        <a:t>-0.89  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3.8e-30 2.568e-16  1.9e-15 2.93e-16%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4.188e-27 5.591e-14  6.4e-14 3.82e-14%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1.0e-27 2.452e-14  3.2e-14 2.82e-14%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3.2e-28 1.183e-14  1.7e-14 1.71e-14%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1.0e-27 2.452e-14  3.2e-14 2.82e-14%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9.7e-31 1.707e-16  9.8e-16 7.13e-16% 1.0  </a:t>
                      </a:r>
                    </a:p>
                    <a:p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4.9e-28 1.429e-14  2.2e-14 1.30e-14%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5.5e-26 1.989e-13  2.3e-13 1.34e-13%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6.7e-28 1.999e-14  2.5e-14 1.88e-14%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8.3e-27 6.607e-14  9.1e-14 8.65e-14%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8.0e-27 6.652e-14  8.9e-14 9.96e-14%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4.92e-28 9.690e-15  2.2e-14 2.35e-14% 1.0   </a:t>
                      </a:r>
                    </a:p>
                    <a:p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4.95e-28 1.429e-14  2.25e-14 1.30e-14%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5.54e-26 1.989e-13  2.35e-13 1.34e-13%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6.75e-28 1.999e-14  2.59e-14 1.88e-14%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8.36e-27 6.607e-14  9.14e-14 8.65e-14% 1.0   </a:t>
                      </a:r>
                      <a:endParaRPr lang="ru-RU" sz="1600" dirty="0">
                        <a:latin typeface="HSE Sans" panose="02000000000000000000" pitchFamily="2" charset="0"/>
                      </a:endParaRP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8.01e-27 6.652e-14  8.95e-14 9.96e-14% 1.0   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4.96e-28 9.690e-15  2.22e-14 2.35e-14% 1.0   </a:t>
                      </a:r>
                    </a:p>
                    <a:p>
                      <a:endParaRPr lang="ru-RU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605.985   16.163 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24.617       -0.05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5412.707  61.483 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73.571       -0.36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974.735   29.336 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31.221       -6.35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686.180    21.903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26.19        -0.20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6022.193  55.495 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77.603       -0.29</a:t>
                      </a:r>
                    </a:p>
                    <a:p>
                      <a:pPr>
                        <a:spcBef>
                          <a:spcPts val="1300"/>
                        </a:spcBef>
                      </a:pPr>
                      <a:r>
                        <a:rPr lang="en-US" sz="1600" dirty="0">
                          <a:latin typeface="HSE Sans" panose="02000000000000000000"/>
                        </a:rPr>
                        <a:t>260.026     13.800  </a:t>
                      </a:r>
                      <a:br>
                        <a:rPr lang="en-US" sz="1600" dirty="0">
                          <a:latin typeface="HSE Sans" panose="02000000000000000000"/>
                        </a:rPr>
                      </a:br>
                      <a:r>
                        <a:rPr lang="en-US" sz="1600" dirty="0">
                          <a:latin typeface="HSE Sans" panose="02000000000000000000"/>
                        </a:rPr>
                        <a:t>16.125      -2.14</a:t>
                      </a:r>
                      <a:endParaRPr lang="ru-RU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45731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97517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83AA044-5D58-BC02-1696-ABAAD1FD25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" name="Straight Connector 19">
            <a:extLst>
              <a:ext uri="{FF2B5EF4-FFF2-40B4-BE49-F238E27FC236}">
                <a16:creationId xmlns:a16="http://schemas.microsoft.com/office/drawing/2014/main" id="{C5EE6697-8516-91E2-FCFC-AAC93AED8D1A}"/>
              </a:ext>
            </a:extLst>
          </p:cNvPr>
          <p:cNvCxnSpPr>
            <a:cxnSpLocks/>
          </p:cNvCxnSpPr>
          <p:nvPr/>
        </p:nvCxnSpPr>
        <p:spPr>
          <a:xfrm>
            <a:off x="329868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1">
            <a:extLst>
              <a:ext uri="{FF2B5EF4-FFF2-40B4-BE49-F238E27FC236}">
                <a16:creationId xmlns:a16="http://schemas.microsoft.com/office/drawing/2014/main" id="{EEF0995F-918E-6782-C2D4-AECA0EFC8AE8}"/>
              </a:ext>
            </a:extLst>
          </p:cNvPr>
          <p:cNvCxnSpPr>
            <a:cxnSpLocks/>
          </p:cNvCxnSpPr>
          <p:nvPr/>
        </p:nvCxnSpPr>
        <p:spPr>
          <a:xfrm>
            <a:off x="6099416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5">
            <a:extLst>
              <a:ext uri="{FF2B5EF4-FFF2-40B4-BE49-F238E27FC236}">
                <a16:creationId xmlns:a16="http://schemas.microsoft.com/office/drawing/2014/main" id="{18F8824D-6636-2F60-4DDB-B09A17AEA75F}"/>
              </a:ext>
            </a:extLst>
          </p:cNvPr>
          <p:cNvCxnSpPr>
            <a:cxnSpLocks/>
          </p:cNvCxnSpPr>
          <p:nvPr/>
        </p:nvCxnSpPr>
        <p:spPr>
          <a:xfrm>
            <a:off x="10277081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D50C4DFC-EE9D-A818-F78B-FE907653432F}"/>
              </a:ext>
            </a:extLst>
          </p:cNvPr>
          <p:cNvSpPr txBox="1"/>
          <p:nvPr/>
        </p:nvSpPr>
        <p:spPr>
          <a:xfrm>
            <a:off x="10337843" y="497315"/>
            <a:ext cx="6719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dirty="0">
                <a:solidFill>
                  <a:srgbClr val="102D69"/>
                </a:solidFill>
                <a:latin typeface="HSE Sans" panose="02000000000000000000" pitchFamily="2" charset="0"/>
              </a:rPr>
              <a:t>7</a:t>
            </a:r>
          </a:p>
        </p:txBody>
      </p:sp>
      <p:cxnSp>
        <p:nvCxnSpPr>
          <p:cNvPr id="28" name="Straight Connector 13">
            <a:extLst>
              <a:ext uri="{FF2B5EF4-FFF2-40B4-BE49-F238E27FC236}">
                <a16:creationId xmlns:a16="http://schemas.microsoft.com/office/drawing/2014/main" id="{D93B28D9-693E-12E8-16EA-B30097319A6A}"/>
              </a:ext>
            </a:extLst>
          </p:cNvPr>
          <p:cNvCxnSpPr>
            <a:cxnSpLocks/>
          </p:cNvCxnSpPr>
          <p:nvPr/>
        </p:nvCxnSpPr>
        <p:spPr>
          <a:xfrm>
            <a:off x="11643868" y="464363"/>
            <a:ext cx="0" cy="586260"/>
          </a:xfrm>
          <a:prstGeom prst="line">
            <a:avLst/>
          </a:prstGeom>
          <a:ln w="12700">
            <a:solidFill>
              <a:srgbClr val="102D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5ED10BDF-F40E-DEC1-1307-5AA2C142554C}"/>
              </a:ext>
            </a:extLst>
          </p:cNvPr>
          <p:cNvSpPr txBox="1"/>
          <p:nvPr/>
        </p:nvSpPr>
        <p:spPr>
          <a:xfrm>
            <a:off x="3365627" y="497315"/>
            <a:ext cx="2346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000" dirty="0">
                <a:latin typeface="HSE Sans" panose="02000000000000000000" pitchFamily="2" charset="0"/>
              </a:rPr>
              <a:t>Планирование работы фрезерных станков с использованием ИИ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35F21CC-B736-3F20-65FE-3620E82C902E}"/>
              </a:ext>
            </a:extLst>
          </p:cNvPr>
          <p:cNvSpPr txBox="1"/>
          <p:nvPr/>
        </p:nvSpPr>
        <p:spPr>
          <a:xfrm>
            <a:off x="6158118" y="497315"/>
            <a:ext cx="23467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HSE Sans" panose="02000000000000000000" pitchFamily="2" charset="0"/>
              </a:rPr>
              <a:t>Для примера</a:t>
            </a:r>
          </a:p>
        </p:txBody>
      </p:sp>
      <p:graphicFrame>
        <p:nvGraphicFramePr>
          <p:cNvPr id="3" name="Таблица 2">
            <a:extLst>
              <a:ext uri="{FF2B5EF4-FFF2-40B4-BE49-F238E27FC236}">
                <a16:creationId xmlns:a16="http://schemas.microsoft.com/office/drawing/2014/main" id="{23D01A4D-F34B-3696-D941-9CC938EFF8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3831109"/>
              </p:ext>
            </p:extLst>
          </p:nvPr>
        </p:nvGraphicFramePr>
        <p:xfrm>
          <a:off x="326886" y="897425"/>
          <a:ext cx="10999958" cy="57958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54725">
                  <a:extLst>
                    <a:ext uri="{9D8B030D-6E8A-4147-A177-3AD203B41FA5}">
                      <a16:colId xmlns:a16="http://schemas.microsoft.com/office/drawing/2014/main" val="47371881"/>
                    </a:ext>
                  </a:extLst>
                </a:gridCol>
                <a:gridCol w="2154725">
                  <a:extLst>
                    <a:ext uri="{9D8B030D-6E8A-4147-A177-3AD203B41FA5}">
                      <a16:colId xmlns:a16="http://schemas.microsoft.com/office/drawing/2014/main" val="1084039578"/>
                    </a:ext>
                  </a:extLst>
                </a:gridCol>
                <a:gridCol w="2172831">
                  <a:extLst>
                    <a:ext uri="{9D8B030D-6E8A-4147-A177-3AD203B41FA5}">
                      <a16:colId xmlns:a16="http://schemas.microsoft.com/office/drawing/2014/main" val="2501779522"/>
                    </a:ext>
                  </a:extLst>
                </a:gridCol>
                <a:gridCol w="2172832">
                  <a:extLst>
                    <a:ext uri="{9D8B030D-6E8A-4147-A177-3AD203B41FA5}">
                      <a16:colId xmlns:a16="http://schemas.microsoft.com/office/drawing/2014/main" val="360469784"/>
                    </a:ext>
                  </a:extLst>
                </a:gridCol>
                <a:gridCol w="2344845">
                  <a:extLst>
                    <a:ext uri="{9D8B030D-6E8A-4147-A177-3AD203B41FA5}">
                      <a16:colId xmlns:a16="http://schemas.microsoft.com/office/drawing/2014/main" val="1958544668"/>
                    </a:ext>
                  </a:extLst>
                </a:gridCol>
              </a:tblGrid>
              <a:tr h="785187"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HSE Sans" panose="02000000000000000000" pitchFamily="2" charset="0"/>
                        </a:rPr>
                        <a:t>Seasonal Naive Method </a:t>
                      </a:r>
                      <a:endParaRPr lang="ru-RU" sz="1600" dirty="0">
                        <a:latin typeface="HSE Sans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HSE Sans" panose="02000000000000000000" pitchFamily="2" charset="0"/>
                        </a:rPr>
                        <a:t> Linear Regression Model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HSE Sans" panose="02000000000000000000" pitchFamily="2" charset="0"/>
                        </a:rPr>
                        <a:t>Polynomial Regression Model 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latin typeface="HSE Sans" panose="02000000000000000000" pitchFamily="2" charset="0"/>
                        </a:rPr>
                        <a:t>Nonlinear Autoregressive Models (NAR/NARX)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Auto ARIMA Model</a:t>
                      </a:r>
                    </a:p>
                    <a:p>
                      <a:endParaRPr lang="en-US" sz="1600" dirty="0"/>
                    </a:p>
                    <a:p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38144029"/>
                  </a:ext>
                </a:extLst>
              </a:tr>
              <a:tr h="4972853">
                <a:tc>
                  <a:txBody>
                    <a:bodyPr/>
                    <a:lstStyle/>
                    <a:p>
                      <a:pPr>
                        <a:spcBef>
                          <a:spcPts val="1300"/>
                        </a:spcBef>
                      </a:pPr>
                      <a:r>
                        <a:rPr lang="ru-RU" sz="1600" dirty="0"/>
                        <a:t>Это самый простой метод, и его результаты по меткам (MSE, MAE, RMSE) обычно гораздо хуже, чем у более сложных моделей. Например, для CNXC и CTSH значения MAPE высоки, что указывает на низкую точность модели. Модель в основном дает низкие значения R², что подтверждает её неспособность эффективно объяснять вариации в данных.</a:t>
                      </a:r>
                      <a:endParaRPr lang="en-US" sz="1600" dirty="0">
                        <a:latin typeface="HSE Sans" panose="02000000000000000000" pitchFamily="2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Линейная регрессия показывает идеальные результаты с очень малыми значениями ошибок (например, для IBM и EPAM). Однако такие результаты могут свидетельствовать о переобучении, особенно при применении к данным с шумом.</a:t>
                      </a:r>
                      <a:r>
                        <a:rPr lang="en-US" sz="1600" dirty="0"/>
                        <a:t> </a:t>
                      </a:r>
                      <a:r>
                        <a:rPr lang="ru-RU" sz="1600" dirty="0"/>
                        <a:t>Для большинства символов значения R² равны 1, что указывает на идеальную подгонку модели к данным.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Полиномиальная регрессия также дает практически идеальные результаты, с минимальными значениями ошибок и максимальными значениями R² (практически равными 1).Однако, как и в случае с линейной регрессией, это может указывать на переобучение, если данные слишком хорошо поддаются моделям.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Для некоторых символов, таких как IBM и GLOB, модель демонстрирует хорошие результаты с низким MSE и высокими значениями R².Однако для других символов, таких как CNXC и CACI, модель не справляется с прогнозированием, что приводит к очень плохим результатам (например, отрицательные значения R²).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1600" dirty="0"/>
                        <a:t>Модели Auto ARIMA демонстрируют подобные результаты с ARIMA. Они также показывают высокие значения MSE, MAE и RMSE для трудных данных (например, CACI и CNXC).Однако для CTSH результаты лучше (например, 260.026), что указывает на способность Auto ARIMA более точно подбирать параметры для данных с более стабильной динамикой.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54246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019714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19352</TotalTime>
  <Words>1195</Words>
  <Application>Microsoft Office PowerPoint</Application>
  <PresentationFormat>Широкоэкранный</PresentationFormat>
  <Paragraphs>193</Paragraphs>
  <Slides>17</Slides>
  <Notes>17</Notes>
  <HiddenSlides>1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17</vt:i4>
      </vt:variant>
    </vt:vector>
  </HeadingPairs>
  <TitlesOfParts>
    <vt:vector size="23" baseType="lpstr">
      <vt:lpstr>-apple-system</vt:lpstr>
      <vt:lpstr>Arial</vt:lpstr>
      <vt:lpstr>Calibri</vt:lpstr>
      <vt:lpstr>Calibri Light</vt:lpstr>
      <vt:lpstr>HSE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Барабанова Мария Сергеевна</dc:creator>
  <cp:lastModifiedBy>Vladimir Datsiuk</cp:lastModifiedBy>
  <cp:revision>38</cp:revision>
  <dcterms:created xsi:type="dcterms:W3CDTF">2021-12-23T09:05:15Z</dcterms:created>
  <dcterms:modified xsi:type="dcterms:W3CDTF">2026-03-18T12:48:54Z</dcterms:modified>
</cp:coreProperties>
</file>