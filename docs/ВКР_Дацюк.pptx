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Ex1.xml" ContentType="application/vnd.ms-office.chartex+xml"/>
  <Override PartName="/ppt/charts/style3.xml" ContentType="application/vnd.ms-office.chartstyle+xml"/>
  <Override PartName="/ppt/charts/colors3.xml" ContentType="application/vnd.ms-office.chartcolorstyl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305" r:id="rId2"/>
    <p:sldId id="321" r:id="rId3"/>
    <p:sldId id="309" r:id="rId4"/>
    <p:sldId id="320" r:id="rId5"/>
    <p:sldId id="272" r:id="rId6"/>
    <p:sldId id="310" r:id="rId7"/>
    <p:sldId id="275" r:id="rId8"/>
    <p:sldId id="277" r:id="rId9"/>
    <p:sldId id="312" r:id="rId10"/>
    <p:sldId id="307" r:id="rId11"/>
    <p:sldId id="311" r:id="rId12"/>
    <p:sldId id="280" r:id="rId13"/>
    <p:sldId id="314" r:id="rId14"/>
    <p:sldId id="319" r:id="rId15"/>
    <p:sldId id="315" r:id="rId16"/>
    <p:sldId id="278" r:id="rId17"/>
    <p:sldId id="316" r:id="rId18"/>
    <p:sldId id="284" r:id="rId19"/>
    <p:sldId id="318" r:id="rId2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1E3C"/>
    <a:srgbClr val="0F2D69"/>
    <a:srgbClr val="234B9B"/>
    <a:srgbClr val="F5C3C3"/>
    <a:srgbClr val="CD5A5A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6" autoAdjust="0"/>
    <p:restoredTop sz="95209" autoAdjust="0"/>
  </p:normalViewPr>
  <p:slideViewPr>
    <p:cSldViewPr snapToGrid="0">
      <p:cViewPr varScale="1">
        <p:scale>
          <a:sx n="100" d="100"/>
          <a:sy n="100" d="100"/>
        </p:scale>
        <p:origin x="84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3.xml"/><Relationship Id="rId2" Type="http://schemas.microsoft.com/office/2011/relationships/chartStyle" Target="style3.xml"/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rgbClr val="10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Вклад признаков, %</a:t>
            </a:r>
            <a:endParaRPr lang="en-GB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c:rich>
      </c:tx>
      <c:layout>
        <c:manualLayout>
          <c:xMode val="edge"/>
          <c:yMode val="edge"/>
          <c:x val="0.33601000111952839"/>
          <c:y val="2.079937058156677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rgbClr val="102D69"/>
              </a:solidFill>
              <a:latin typeface="HSE Sans" panose="02000000000000000000" pitchFamily="2" charset="0"/>
              <a:ea typeface="+mn-ea"/>
              <a:cs typeface="+mn-cs"/>
            </a:defRPr>
          </a:pPr>
          <a:endParaRPr lang="en-GB"/>
        </a:p>
      </c:txPr>
    </c:title>
    <c:autoTitleDeleted val="0"/>
    <c:plotArea>
      <c:layout>
        <c:manualLayout>
          <c:layoutTarget val="inner"/>
          <c:xMode val="edge"/>
          <c:yMode val="edge"/>
          <c:x val="0.44058710935244771"/>
          <c:y val="0.10958869184472636"/>
          <c:w val="0.48580252341553753"/>
          <c:h val="0.73513663426755427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Важность признаков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Sheet1!$A$2:$A$10</c:f>
              <c:strCache>
                <c:ptCount val="9"/>
                <c:pt idx="0">
                  <c:v>Номеклатурная группа</c:v>
                </c:pt>
                <c:pt idx="1">
                  <c:v>Плотность наполнения</c:v>
                </c:pt>
                <c:pt idx="2">
                  <c:v>Проект</c:v>
                </c:pt>
                <c:pt idx="3">
                  <c:v>Материал</c:v>
                </c:pt>
                <c:pt idx="4">
                  <c:v>Сложность выполнения</c:v>
                </c:pt>
                <c:pt idx="5">
                  <c:v>Материал</c:v>
                </c:pt>
                <c:pt idx="6">
                  <c:v>Плотность_объем</c:v>
                </c:pt>
                <c:pt idx="7">
                  <c:v>Операция НТК</c:v>
                </c:pt>
                <c:pt idx="8">
                  <c:v>Площадь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  <c:pt idx="4">
                  <c:v>11</c:v>
                </c:pt>
                <c:pt idx="5">
                  <c:v>12</c:v>
                </c:pt>
                <c:pt idx="6">
                  <c:v>15</c:v>
                </c:pt>
                <c:pt idx="7">
                  <c:v>16</c:v>
                </c:pt>
                <c:pt idx="8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32C-424A-8DB9-1AC3AD043D9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955724448"/>
        <c:axId val="955630256"/>
      </c:barChart>
      <c:catAx>
        <c:axId val="9557244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10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endParaRPr lang="en-RU"/>
          </a:p>
        </c:txPr>
        <c:crossAx val="955630256"/>
        <c:crosses val="autoZero"/>
        <c:auto val="1"/>
        <c:lblAlgn val="ctr"/>
        <c:lblOffset val="100"/>
        <c:noMultiLvlLbl val="0"/>
      </c:catAx>
      <c:valAx>
        <c:axId val="95563025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9557244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rgbClr val="10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Важность</a:t>
            </a:r>
            <a:r>
              <a:rPr lang="ru-RU" sz="1600" baseline="0" dirty="0">
                <a:solidFill>
                  <a:srgbClr val="102D69"/>
                </a:solidFill>
                <a:latin typeface="HSE Sans" panose="02000000000000000000" pitchFamily="2" charset="0"/>
              </a:rPr>
              <a:t> по типам признаков, %</a:t>
            </a:r>
            <a:endParaRPr lang="en-GB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c:rich>
      </c:tx>
      <c:layout>
        <c:manualLayout>
          <c:xMode val="edge"/>
          <c:yMode val="edge"/>
          <c:x val="0.10953733191685275"/>
          <c:y val="7.9136629819212406E-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rgbClr val="102D69"/>
              </a:solidFill>
              <a:latin typeface="HSE Sans" panose="02000000000000000000" pitchFamily="2" charset="0"/>
              <a:ea typeface="+mn-ea"/>
              <a:cs typeface="+mn-cs"/>
            </a:defRPr>
          </a:pPr>
          <a:endParaRPr lang="en-GB"/>
        </a:p>
      </c:txPr>
    </c:title>
    <c:autoTitleDeleted val="0"/>
    <c:plotArea>
      <c:layout>
        <c:manualLayout>
          <c:layoutTarget val="inner"/>
          <c:xMode val="edge"/>
          <c:yMode val="edge"/>
          <c:x val="0.44058712911782133"/>
          <c:y val="0.2060525271399084"/>
          <c:w val="0.52124080807179551"/>
          <c:h val="0.72402838463189034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Важность по типам признаков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8.1416281888276737E-2"/>
                      <c:h val="7.5638573653478355E-2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2-9A6A-4A2E-9EC8-5504DC3DF109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3E9627CF-26BC-4DB0-AAEC-E08F22B03076}" type="VALUE">
                      <a:rPr lang="en-US" smtClean="0"/>
                      <a:pPr/>
                      <a:t>[ЗНАЧЕНИЕ]</a:t>
                    </a:fld>
                    <a:r>
                      <a:rPr lang="en-US"/>
                      <a:t>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9A6A-4A2E-9EC8-5504DC3DF109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AC35ED29-847A-4319-A417-05D7771F54F3}" type="VALUE">
                      <a:rPr lang="en-US" smtClean="0"/>
                      <a:pPr/>
                      <a:t>[ЗНАЧЕНИЕ]</a:t>
                    </a:fld>
                    <a:r>
                      <a:rPr lang="en-US"/>
                      <a:t>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9A6A-4A2E-9EC8-5504DC3DF10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Категориальные</c:v>
                </c:pt>
                <c:pt idx="1">
                  <c:v>Сгенерированные</c:v>
                </c:pt>
                <c:pt idx="2">
                  <c:v>Числовые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</c:v>
                </c:pt>
                <c:pt idx="1">
                  <c:v>25</c:v>
                </c:pt>
                <c:pt idx="2">
                  <c:v>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1F-43B7-8436-A93AAC6115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955724448"/>
        <c:axId val="955630256"/>
      </c:barChart>
      <c:catAx>
        <c:axId val="9557244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10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endParaRPr lang="en-RU"/>
          </a:p>
        </c:txPr>
        <c:crossAx val="955630256"/>
        <c:crosses val="autoZero"/>
        <c:auto val="1"/>
        <c:lblAlgn val="ctr"/>
        <c:lblOffset val="100"/>
        <c:noMultiLvlLbl val="0"/>
      </c:catAx>
      <c:valAx>
        <c:axId val="95563025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9557244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RU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Sheet1!$A$2:$A$8</cx:f>
        <cx:lvl ptCount="7">
          <cx:pt idx="0">Валидные данные</cx:pt>
          <cx:pt idx="1">Выбросы</cx:pt>
          <cx:pt idx="2">Сбои</cx:pt>
          <cx:pt idx="3">Ошибки</cx:pt>
          <cx:pt idx="4">Остановки</cx:pt>
          <cx:pt idx="5">Корректировки</cx:pt>
          <cx:pt idx="6">Брак</cx:pt>
        </cx:lvl>
      </cx:strDim>
      <cx:numDim type="size">
        <cx:f>Sheet1!$B$2:$B$8</cx:f>
        <cx:lvl ptCount="7" formatCode="General">
          <cx:pt idx="0">66</cx:pt>
          <cx:pt idx="1">3</cx:pt>
          <cx:pt idx="2">5</cx:pt>
          <cx:pt idx="3">2.7999999999999998</cx:pt>
          <cx:pt idx="4">5.4000000000000004</cx:pt>
          <cx:pt idx="5">2.6000000000000001</cx:pt>
          <cx:pt idx="6">1.8</cx:pt>
        </cx:lvl>
      </cx:numDim>
    </cx:data>
  </cx:chartData>
  <cx:chart>
    <cx:title pos="t" align="ctr" overlay="0">
      <cx:tx>
        <cx:rich>
          <a:bodyPr rot="0" spcFirstLastPara="1" vertOverflow="ellipsis" vert="horz" wrap="square" lIns="38100" tIns="19050" rIns="38100" bIns="19050" anchor="ctr" anchorCtr="1" compatLnSpc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 i="0" u="none" strike="noStrike" kern="1200" baseline="0">
                <a:solidFill>
                  <a:srgbClr val="102D69"/>
                </a:solidFill>
                <a:latin typeface="HSE Sans" panose="02000000000000000000" pitchFamily="2" charset="0"/>
                <a:ea typeface="+mn-ea"/>
                <a:cs typeface="+mn-cs"/>
              </a:defRPr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102D69"/>
                </a:solidFill>
                <a:effectLst/>
                <a:uLnTx/>
                <a:uFillTx/>
              </a:rPr>
              <a:t>Анализ аномалий</a:t>
            </a:r>
            <a:endParaRPr lang="en-RU" sz="1600" dirty="0">
              <a:effectLst/>
            </a:endParaRPr>
          </a:p>
        </cx:rich>
      </cx:tx>
    </cx:title>
    <cx:plotArea>
      <cx:plotAreaRegion>
        <cx:series layoutId="sunburst" uniqueId="{7396FA94-DC10-4DBF-A898-46B13C768361}">
          <cx:tx>
            <cx:txData>
              <cx:f>Sheet1!$B$1</cx:f>
              <cx:v>Sales</cx:v>
            </cx:txData>
          </cx:tx>
          <cx:dataId val="0"/>
        </cx:series>
      </cx:plotAreaRegion>
    </cx:plotArea>
    <cx:legend pos="b" align="ctr" overlay="0"/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5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C4D81D-654F-48DB-A33D-3E6F325A1010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093330-6B9A-4C0D-8499-7E41F07687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5750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99840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80BFE41-87B8-E0C5-9BCA-378423F997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635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38536C4-3B79-8FF0-64F7-D7F85560AD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469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2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3F976F2-5913-92C7-B207-70AEB751D8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2680" y="134899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821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39AE18B-9CD1-6ACF-B8BF-D5A1940B95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2681" y="136491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607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B38B0A2-06C9-471A-1ED6-E1E435B951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2681" y="134899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435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402B17A-82FC-4B7D-A137-C083794641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2680" y="134899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152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3416E00-203E-91CE-7100-6098C8AE80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2680" y="134899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428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7A9EE3D-CE66-2E25-C53C-F81BB2992D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2680" y="134899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817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9101049-909A-ABCB-FE26-62A753341C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4184" y="253682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755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5C048D9-E87E-7C55-3191-19C74B2809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2681" y="134899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3934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86A5804-6C85-F104-3088-1F4FDC0EB0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2681" y="134899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8584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Обложк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8" descr="A blue circle with white text&#10;&#10;Description automatically generated with low confidence">
            <a:extLst>
              <a:ext uri="{FF2B5EF4-FFF2-40B4-BE49-F238E27FC236}">
                <a16:creationId xmlns:a16="http://schemas.microsoft.com/office/drawing/2014/main" id="{BA292C80-0DA8-194A-9A66-279048FA2A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3859" y="962173"/>
            <a:ext cx="886499" cy="886499"/>
          </a:xfrm>
          <a:prstGeom prst="rect">
            <a:avLst/>
          </a:prstGeom>
        </p:spPr>
      </p:pic>
      <p:cxnSp>
        <p:nvCxnSpPr>
          <p:cNvPr id="11" name="Straight Connector 48">
            <a:extLst>
              <a:ext uri="{FF2B5EF4-FFF2-40B4-BE49-F238E27FC236}">
                <a16:creationId xmlns:a16="http://schemas.microsoft.com/office/drawing/2014/main" id="{313EF906-5BAC-0141-A198-076E155DF9E2}"/>
              </a:ext>
            </a:extLst>
          </p:cNvPr>
          <p:cNvCxnSpPr>
            <a:cxnSpLocks/>
          </p:cNvCxnSpPr>
          <p:nvPr userDrawn="1"/>
        </p:nvCxnSpPr>
        <p:spPr>
          <a:xfrm>
            <a:off x="6090212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50">
            <a:extLst>
              <a:ext uri="{FF2B5EF4-FFF2-40B4-BE49-F238E27FC236}">
                <a16:creationId xmlns:a16="http://schemas.microsoft.com/office/drawing/2014/main" id="{61206A97-26F2-E646-8775-9928FEF465B5}"/>
              </a:ext>
            </a:extLst>
          </p:cNvPr>
          <p:cNvCxnSpPr>
            <a:cxnSpLocks/>
          </p:cNvCxnSpPr>
          <p:nvPr userDrawn="1"/>
        </p:nvCxnSpPr>
        <p:spPr>
          <a:xfrm>
            <a:off x="8642581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51">
            <a:extLst>
              <a:ext uri="{FF2B5EF4-FFF2-40B4-BE49-F238E27FC236}">
                <a16:creationId xmlns:a16="http://schemas.microsoft.com/office/drawing/2014/main" id="{28E0E5F6-C1CA-9B41-B1DB-6E4FB509084D}"/>
              </a:ext>
            </a:extLst>
          </p:cNvPr>
          <p:cNvCxnSpPr>
            <a:cxnSpLocks/>
          </p:cNvCxnSpPr>
          <p:nvPr userDrawn="1"/>
        </p:nvCxnSpPr>
        <p:spPr>
          <a:xfrm>
            <a:off x="11179047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Заголовок 15">
            <a:extLst>
              <a:ext uri="{FF2B5EF4-FFF2-40B4-BE49-F238E27FC236}">
                <a16:creationId xmlns:a16="http://schemas.microsoft.com/office/drawing/2014/main" id="{6007C52F-2E27-E24A-B9DC-AAAB052DB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967" y="2404670"/>
            <a:ext cx="7634059" cy="1978323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4300" b="0" i="0" baseline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презентации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может быть набрано в две 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или три строки (43 </a:t>
            </a:r>
            <a:r>
              <a:rPr lang="en-GB" sz="4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4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4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18109844-C2E7-354F-9C01-8834E4DCE3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947" y="1187841"/>
            <a:ext cx="3848717" cy="435163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0" i="0">
                <a:latin typeface="HSE Sans" panose="02000000000000000000" pitchFamily="2" charset="0"/>
              </a:defRPr>
            </a:lvl1pPr>
            <a:lvl2pPr marL="457200" indent="0" algn="l">
              <a:buNone/>
              <a:defRPr sz="1600" b="0" i="0">
                <a:latin typeface="HSE Sans" panose="02000000000000000000" pitchFamily="2" charset="0"/>
              </a:defRPr>
            </a:lvl2pPr>
            <a:lvl3pPr marL="914400" indent="0" algn="l">
              <a:buNone/>
              <a:defRPr sz="1600" b="0" i="0">
                <a:latin typeface="HSE Sans" panose="02000000000000000000" pitchFamily="2" charset="0"/>
              </a:defRPr>
            </a:lvl3pPr>
            <a:lvl4pPr marL="1371600" indent="0" algn="l">
              <a:buNone/>
              <a:defRPr sz="1600" b="0" i="0">
                <a:latin typeface="HSE Sans" panose="02000000000000000000" pitchFamily="2" charset="0"/>
              </a:defRPr>
            </a:lvl4pPr>
            <a:lvl5pPr marL="1828800" indent="0" algn="l">
              <a:buNone/>
              <a:defRPr sz="1600" b="0" i="0">
                <a:latin typeface="HSE Sans" panose="02000000000000000000" pitchFamily="2" charset="0"/>
              </a:defRPr>
            </a:lvl5pPr>
          </a:lstStyle>
          <a:p>
            <a:r>
              <a:rPr lang="ru-RU" dirty="0">
                <a:latin typeface="HSE Sans" panose="02000000000000000000" pitchFamily="2" charset="0"/>
              </a:rPr>
              <a:t>Название факультета</a:t>
            </a:r>
            <a:br>
              <a:rPr lang="ru-RU" dirty="0">
                <a:latin typeface="HSE Sans" panose="02000000000000000000" pitchFamily="2" charset="0"/>
              </a:rPr>
            </a:br>
            <a:r>
              <a:rPr lang="ru-RU" dirty="0">
                <a:latin typeface="HSE Sans" panose="02000000000000000000" pitchFamily="2" charset="0"/>
              </a:rPr>
              <a:t>в две строки</a:t>
            </a:r>
            <a:r>
              <a:rPr lang="en-GB" dirty="0">
                <a:latin typeface="HSE Sans" panose="02000000000000000000" pitchFamily="2" charset="0"/>
              </a:rPr>
              <a:t> (16 </a:t>
            </a:r>
            <a:r>
              <a:rPr lang="en-GB" dirty="0" err="1">
                <a:latin typeface="HSE Sans" panose="02000000000000000000" pitchFamily="2" charset="0"/>
              </a:rPr>
              <a:t>pt</a:t>
            </a:r>
            <a:r>
              <a:rPr lang="en-GB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40A04329-C800-BB42-BFE0-7E3C68848DA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59420" y="1173829"/>
            <a:ext cx="2278063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7" name="Текст 26">
            <a:extLst>
              <a:ext uri="{FF2B5EF4-FFF2-40B4-BE49-F238E27FC236}">
                <a16:creationId xmlns:a16="http://schemas.microsoft.com/office/drawing/2014/main" id="{98337931-3EC2-F348-99EA-860F4FFDC188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786720" y="1173829"/>
            <a:ext cx="2217738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Москва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2022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9" name="Текст 28">
            <a:extLst>
              <a:ext uri="{FF2B5EF4-FFF2-40B4-BE49-F238E27FC236}">
                <a16:creationId xmlns:a16="http://schemas.microsoft.com/office/drawing/2014/main" id="{EEA7A79B-D410-B44F-BF32-C3EAEFC20A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27967" y="4824914"/>
            <a:ext cx="7625267" cy="652860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600" dirty="0">
                <a:latin typeface="HSE Sans" panose="02000000000000000000" pitchFamily="2" charset="0"/>
              </a:rPr>
              <a:t>Если нужно больше места, то используйте подзаголовок</a:t>
            </a:r>
            <a:r>
              <a:rPr lang="en-GB" sz="1600" dirty="0">
                <a:latin typeface="HSE Sans" panose="02000000000000000000" pitchFamily="2" charset="0"/>
              </a:rPr>
              <a:t> (16 </a:t>
            </a:r>
            <a:r>
              <a:rPr lang="en-GB" sz="1600" dirty="0" err="1">
                <a:latin typeface="HSE Sans" panose="02000000000000000000" pitchFamily="2" charset="0"/>
              </a:rPr>
              <a:t>pt</a:t>
            </a:r>
            <a:r>
              <a:rPr lang="en-GB" sz="1600" dirty="0">
                <a:latin typeface="HSE Sans" panose="02000000000000000000" pitchFamily="2" charset="0"/>
              </a:rPr>
              <a:t>)</a:t>
            </a:r>
            <a:endParaRPr lang="ru-RU" sz="16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74041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Текст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4" descr="Icon&#10;&#10;Description automatically generated">
            <a:extLst>
              <a:ext uri="{FF2B5EF4-FFF2-40B4-BE49-F238E27FC236}">
                <a16:creationId xmlns:a16="http://schemas.microsoft.com/office/drawing/2014/main" id="{4A1436AC-5F96-2A4F-BFC7-B3442083EB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11" name="Straight Connector 19">
            <a:extLst>
              <a:ext uri="{FF2B5EF4-FFF2-40B4-BE49-F238E27FC236}">
                <a16:creationId xmlns:a16="http://schemas.microsoft.com/office/drawing/2014/main" id="{067DD2ED-246D-7D41-B51F-FED98BF873F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1">
            <a:extLst>
              <a:ext uri="{FF2B5EF4-FFF2-40B4-BE49-F238E27FC236}">
                <a16:creationId xmlns:a16="http://schemas.microsoft.com/office/drawing/2014/main" id="{68E8C250-D449-A743-8975-B5BFB04D9744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5">
            <a:extLst>
              <a:ext uri="{FF2B5EF4-FFF2-40B4-BE49-F238E27FC236}">
                <a16:creationId xmlns:a16="http://schemas.microsoft.com/office/drawing/2014/main" id="{DD1C71CA-B883-AF42-959D-BCA5690AAA4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4D3A12E-0E10-C441-81D2-C3C1EB6A053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9" name="Straight Connector 59">
            <a:extLst>
              <a:ext uri="{FF2B5EF4-FFF2-40B4-BE49-F238E27FC236}">
                <a16:creationId xmlns:a16="http://schemas.microsoft.com/office/drawing/2014/main" id="{3447008E-4F3B-FC4E-B96D-3927FAE1ED1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Рисунок 23">
            <a:extLst>
              <a:ext uri="{FF2B5EF4-FFF2-40B4-BE49-F238E27FC236}">
                <a16:creationId xmlns:a16="http://schemas.microsoft.com/office/drawing/2014/main" id="{61115A7A-23E5-E442-9551-F72F1CDA57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684653" y="1447790"/>
            <a:ext cx="4325167" cy="4325107"/>
          </a:xfrm>
          <a:solidFill>
            <a:srgbClr val="D9D9D9"/>
          </a:solidFill>
        </p:spPr>
        <p:txBody>
          <a:bodyPr anchor="ctr"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2">
                    <a:lumMod val="10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schemeClr val="tx1"/>
                </a:solidFill>
                <a:latin typeface="HSE Sans" panose="02000000000000000000" pitchFamily="2" charset="0"/>
              </a:rPr>
              <a:t>Чтобы слайд не выглядел пустым, сюда можно поставить иллюстрацию или фотографию</a:t>
            </a:r>
            <a:endParaRPr lang="en-RU" sz="2800">
              <a:solidFill>
                <a:schemeClr val="tx1"/>
              </a:solidFill>
              <a:latin typeface="HSE Sans" panose="02000000000000000000" pitchFamily="2" charset="0"/>
            </a:endParaRPr>
          </a:p>
        </p:txBody>
      </p:sp>
      <p:sp>
        <p:nvSpPr>
          <p:cNvPr id="32" name="Заголовок 31">
            <a:extLst>
              <a:ext uri="{FF2B5EF4-FFF2-40B4-BE49-F238E27FC236}">
                <a16:creationId xmlns:a16="http://schemas.microsoft.com/office/drawing/2014/main" id="{9ED7AA97-D972-DF4F-B662-A65F2A544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8" y="1447790"/>
            <a:ext cx="524556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Текст 35">
            <a:extLst>
              <a:ext uri="{FF2B5EF4-FFF2-40B4-BE49-F238E27FC236}">
                <a16:creationId xmlns:a16="http://schemas.microsoft.com/office/drawing/2014/main" id="{69E35E54-2B19-7441-876F-1C6A84F4F15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5245561" cy="3393234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38" name="Текст 37">
            <a:extLst>
              <a:ext uri="{FF2B5EF4-FFF2-40B4-BE49-F238E27FC236}">
                <a16:creationId xmlns:a16="http://schemas.microsoft.com/office/drawing/2014/main" id="{7FB4A275-856E-364D-8AA4-2071AADC6A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0" name="Текст 39">
            <a:extLst>
              <a:ext uri="{FF2B5EF4-FFF2-40B4-BE49-F238E27FC236}">
                <a16:creationId xmlns:a16="http://schemas.microsoft.com/office/drawing/2014/main" id="{58FBA0EA-8BE0-A643-B258-4E5C344671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1" name="Текст 39">
            <a:extLst>
              <a:ext uri="{FF2B5EF4-FFF2-40B4-BE49-F238E27FC236}">
                <a16:creationId xmlns:a16="http://schemas.microsoft.com/office/drawing/2014/main" id="{0BEC062F-1BEB-DE4C-B7EE-C552C9D45F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65339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График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E89D752-CAC6-0943-9A3D-4C52DBF50CE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64D89E64-93BB-044D-B3D4-8F2679C5CA4C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D0C3B169-866D-C645-AF76-00F8C2A97E9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FDDF48AB-D8AE-0E42-A544-8EA5B8744778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6DF89EC-1E7C-3B40-85F4-6D19A7D29AC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019D6862-BD52-734D-9E19-38C147CA2D2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A9BD5ADD-B3F2-C342-82F7-83683F040D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4F15CBC0-FC8B-744E-95A7-C9863CDC3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BC3B54AA-A0BD-E646-B3B7-C0E724D26D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B3F16318-C9C3-B948-A508-4BC53D0B77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23B3E5FB-BBCE-4149-AD9A-8CAB06CC9F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658542D3-7E45-6E46-8039-27C4C43DD6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57965DCA-4776-7546-97FD-A69317A34CF2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27918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Таблица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259ABC72-D738-1143-BF2A-D85AE9A4F73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237A1E42-2FC3-8841-8C41-992C5BC2368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47503EA0-3883-E24D-9EB8-7B617518292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E0144DF2-9891-324D-B34E-AFA025FBCBF9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33F65D6-1072-F140-B6A5-758D7B595A9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5F1F09D4-22FA-7B4B-9488-F8FDDCC2D44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44D0326E-FD7A-3541-A998-62A1C30E27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279CCCA0-F959-5245-8321-106D3C5E83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8B839C6B-8494-8841-9714-4C8F710F84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8" name="Текст 22">
            <a:extLst>
              <a:ext uri="{FF2B5EF4-FFF2-40B4-BE49-F238E27FC236}">
                <a16:creationId xmlns:a16="http://schemas.microsoft.com/office/drawing/2014/main" id="{4D940599-2B77-CE47-91E6-CDB51ADE18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4"/>
            <a:ext cx="7617877" cy="53701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9" name="Текст 16">
            <a:extLst>
              <a:ext uri="{FF2B5EF4-FFF2-40B4-BE49-F238E27FC236}">
                <a16:creationId xmlns:a16="http://schemas.microsoft.com/office/drawing/2014/main" id="{A7333712-9DED-4F4B-B209-2F13075EDB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20" name="Таблица 18">
            <a:extLst>
              <a:ext uri="{FF2B5EF4-FFF2-40B4-BE49-F238E27FC236}">
                <a16:creationId xmlns:a16="http://schemas.microsoft.com/office/drawing/2014/main" id="{DD467C42-8209-B740-8419-DBB6A6F7D5EE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2208362"/>
            <a:ext cx="7617895" cy="3295290"/>
          </a:xfrm>
        </p:spPr>
        <p:txBody>
          <a:bodyPr/>
          <a:lstStyle/>
          <a:p>
            <a:endParaRPr lang="ru-RU"/>
          </a:p>
        </p:txBody>
      </p:sp>
      <p:sp>
        <p:nvSpPr>
          <p:cNvPr id="21" name="Текст 35">
            <a:extLst>
              <a:ext uri="{FF2B5EF4-FFF2-40B4-BE49-F238E27FC236}">
                <a16:creationId xmlns:a16="http://schemas.microsoft.com/office/drawing/2014/main" id="{B4309850-76EA-224C-A9E2-B6BBDBF99D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86807" y="2208363"/>
            <a:ext cx="2930666" cy="2570672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8224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Цифры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Icon&#10;&#10;Description automatically generated">
            <a:extLst>
              <a:ext uri="{FF2B5EF4-FFF2-40B4-BE49-F238E27FC236}">
                <a16:creationId xmlns:a16="http://schemas.microsoft.com/office/drawing/2014/main" id="{E9A64721-E55E-8749-B29E-51DD895593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7" name="Straight Connector 19">
            <a:extLst>
              <a:ext uri="{FF2B5EF4-FFF2-40B4-BE49-F238E27FC236}">
                <a16:creationId xmlns:a16="http://schemas.microsoft.com/office/drawing/2014/main" id="{B0C162B7-B84F-874A-960E-31F512518C6E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1">
            <a:extLst>
              <a:ext uri="{FF2B5EF4-FFF2-40B4-BE49-F238E27FC236}">
                <a16:creationId xmlns:a16="http://schemas.microsoft.com/office/drawing/2014/main" id="{1CB321BB-9FE3-294F-85D8-AA7DC75CA4AF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5">
            <a:extLst>
              <a:ext uri="{FF2B5EF4-FFF2-40B4-BE49-F238E27FC236}">
                <a16:creationId xmlns:a16="http://schemas.microsoft.com/office/drawing/2014/main" id="{0A610A45-8712-8A45-AFB3-931CF468EC3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0460EF6-ECAD-8941-8132-1B3E005D606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1" name="Straight Connector 59">
            <a:extLst>
              <a:ext uri="{FF2B5EF4-FFF2-40B4-BE49-F238E27FC236}">
                <a16:creationId xmlns:a16="http://schemas.microsoft.com/office/drawing/2014/main" id="{41AE56A2-5FAA-FD44-AE1A-338E1E304184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Текст 37">
            <a:extLst>
              <a:ext uri="{FF2B5EF4-FFF2-40B4-BE49-F238E27FC236}">
                <a16:creationId xmlns:a16="http://schemas.microsoft.com/office/drawing/2014/main" id="{D9986185-6D5E-FD48-A5CA-AF2D5B58A3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3" name="Текст 39">
            <a:extLst>
              <a:ext uri="{FF2B5EF4-FFF2-40B4-BE49-F238E27FC236}">
                <a16:creationId xmlns:a16="http://schemas.microsoft.com/office/drawing/2014/main" id="{5DBFD327-E3A8-944A-AABF-7D813AD0F1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D206FCE0-05C3-2C45-A7D6-1FC287C017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3B28B62E-5EE9-834C-9BB6-BD66079B81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4" name="Текст 35">
            <a:extLst>
              <a:ext uri="{FF2B5EF4-FFF2-40B4-BE49-F238E27FC236}">
                <a16:creationId xmlns:a16="http://schemas.microsoft.com/office/drawing/2014/main" id="{621215DE-C1FD-2B4C-B236-AF679CF906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5076" y="4103994"/>
            <a:ext cx="2758143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5" name="Текст 35">
            <a:extLst>
              <a:ext uri="{FF2B5EF4-FFF2-40B4-BE49-F238E27FC236}">
                <a16:creationId xmlns:a16="http://schemas.microsoft.com/office/drawing/2014/main" id="{8BC2F90D-0CE0-574C-A7C1-EAA3E6F1AB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47007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6" name="Текст 35">
            <a:extLst>
              <a:ext uri="{FF2B5EF4-FFF2-40B4-BE49-F238E27FC236}">
                <a16:creationId xmlns:a16="http://schemas.microsoft.com/office/drawing/2014/main" id="{239E188B-2696-8A48-9F8A-36223EEF61E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18938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8" name="Текст 27">
            <a:extLst>
              <a:ext uri="{FF2B5EF4-FFF2-40B4-BE49-F238E27FC236}">
                <a16:creationId xmlns:a16="http://schemas.microsoft.com/office/drawing/2014/main" id="{379BF4C6-F899-294C-B88E-8363AFBEEC2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5076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152</a:t>
            </a:r>
            <a:endParaRPr lang="ru-RU" dirty="0"/>
          </a:p>
        </p:txBody>
      </p:sp>
      <p:sp>
        <p:nvSpPr>
          <p:cNvPr id="29" name="Текст 27">
            <a:extLst>
              <a:ext uri="{FF2B5EF4-FFF2-40B4-BE49-F238E27FC236}">
                <a16:creationId xmlns:a16="http://schemas.microsoft.com/office/drawing/2014/main" id="{DE7F352B-F6D9-B545-A835-443A55956E7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47007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95</a:t>
            </a:r>
            <a:endParaRPr lang="ru-RU" dirty="0"/>
          </a:p>
        </p:txBody>
      </p:sp>
      <p:sp>
        <p:nvSpPr>
          <p:cNvPr id="30" name="Текст 27">
            <a:extLst>
              <a:ext uri="{FF2B5EF4-FFF2-40B4-BE49-F238E27FC236}">
                <a16:creationId xmlns:a16="http://schemas.microsoft.com/office/drawing/2014/main" id="{D1D5AF9F-C1B0-7842-8789-1DB8963D981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518938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284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418494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чистый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A7FA04E4-3213-8F41-B068-4DC28144142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938052A0-3DF0-DC47-B7E0-C20EF981C230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8C6147F0-3CA1-264C-B2B2-F88597196943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2CDF50E-4D58-AF4A-ABFD-140AF88B3681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2171D1-2A5B-7A4A-9760-17CCE51B980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3C71A0C3-CD3E-0748-98E5-6B2507CAB296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9856D01B-EC9A-6047-B7FB-D47084AB3F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83E23342-AC91-354A-9A28-A14FF7BAD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BB1CCE68-8F57-1A41-BC43-633D2EFC80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79224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139BA1-5047-414E-8A3F-E19F7F2DED6E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83F6F1-63BF-4504-A93A-2FA8850D49A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8408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4" r:id="rId15"/>
    <p:sldLayoutId id="2147483665" r:id="rId16"/>
    <p:sldLayoutId id="2147483666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microsoft.com/office/2014/relationships/chartEx" Target="../charts/chartEx1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D95C0D-D7DC-EF40-9E45-F5F0A4817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02536" y="2404670"/>
            <a:ext cx="7754112" cy="2633674"/>
          </a:xfrm>
        </p:spPr>
        <p:txBody>
          <a:bodyPr>
            <a:normAutofit/>
          </a:bodyPr>
          <a:lstStyle/>
          <a:p>
            <a:pPr algn="ctr"/>
            <a:r>
              <a:rPr lang="ru-RU" dirty="0"/>
              <a:t>Планирование работы фрезерных станков с использованием ИИ</a:t>
            </a:r>
            <a:br>
              <a:rPr lang="ru-RU" dirty="0"/>
            </a:b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B8D49EC-434A-5443-AC3F-85F01995E63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Магистратура</a:t>
            </a:r>
          </a:p>
          <a:p>
            <a:r>
              <a:rPr lang="ru-RU" dirty="0"/>
              <a:t>«Искусственный интеллект»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6FAE0FA-3CAF-BA4B-8F9F-5FEF3C2F3CC6}"/>
              </a:ext>
            </a:extLst>
          </p:cNvPr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lang="ru-RU" dirty="0"/>
              <a:t>Москва, 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E3AD4D-2340-570C-F060-F7B93F8D70B2}"/>
              </a:ext>
            </a:extLst>
          </p:cNvPr>
          <p:cNvSpPr txBox="1"/>
          <p:nvPr/>
        </p:nvSpPr>
        <p:spPr>
          <a:xfrm>
            <a:off x="8274353" y="4173142"/>
            <a:ext cx="354401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  <a:latin typeface="-apple-system"/>
              </a:rPr>
              <a:t>Научный руководитель</a:t>
            </a:r>
            <a:br>
              <a:rPr lang="ru-RU" b="1" dirty="0">
                <a:solidFill>
                  <a:srgbClr val="002060"/>
                </a:solidFill>
                <a:latin typeface="-apple-system"/>
              </a:rPr>
            </a:br>
            <a:r>
              <a:rPr lang="ru-RU" sz="1600" b="1" dirty="0">
                <a:solidFill>
                  <a:srgbClr val="002060"/>
                </a:solidFill>
                <a:latin typeface="-apple-system"/>
              </a:rPr>
              <a:t>Старший разработчик</a:t>
            </a:r>
          </a:p>
          <a:p>
            <a:r>
              <a:rPr lang="ru-RU" sz="1600" b="1" dirty="0">
                <a:solidFill>
                  <a:srgbClr val="002060"/>
                </a:solidFill>
                <a:latin typeface="-apple-system"/>
              </a:rPr>
              <a:t>кандидат ф.-м. наук</a:t>
            </a:r>
            <a:br>
              <a:rPr lang="ru-RU" b="1" dirty="0">
                <a:solidFill>
                  <a:srgbClr val="002060"/>
                </a:solidFill>
                <a:latin typeface="-apple-system"/>
              </a:rPr>
            </a:br>
            <a:r>
              <a:rPr lang="ru-RU" dirty="0">
                <a:solidFill>
                  <a:srgbClr val="002060"/>
                </a:solidFill>
                <a:latin typeface="-apple-system"/>
              </a:rPr>
              <a:t> Илья Вячеславович Скворцов</a:t>
            </a:r>
          </a:p>
          <a:p>
            <a:r>
              <a:rPr lang="ru-RU" b="1" dirty="0">
                <a:solidFill>
                  <a:srgbClr val="002060"/>
                </a:solidFill>
                <a:latin typeface="-apple-system"/>
              </a:rPr>
              <a:t>Студент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-apple-system"/>
              </a:rPr>
              <a:t> </a:t>
            </a:r>
            <a:r>
              <a:rPr lang="ru-RU" dirty="0">
                <a:solidFill>
                  <a:srgbClr val="002060"/>
                </a:solidFill>
                <a:latin typeface="-apple-system"/>
              </a:rPr>
              <a:t>Владимир Юрьевич Дацюк</a:t>
            </a:r>
          </a:p>
          <a:p>
            <a:endParaRPr lang="ru-RU" dirty="0">
              <a:solidFill>
                <a:srgbClr val="002060"/>
              </a:solidFill>
              <a:latin typeface="-apple-system"/>
            </a:endParaRPr>
          </a:p>
        </p:txBody>
      </p:sp>
      <p:sp>
        <p:nvSpPr>
          <p:cNvPr id="7" name="Текст 1">
            <a:extLst>
              <a:ext uri="{FF2B5EF4-FFF2-40B4-BE49-F238E27FC236}">
                <a16:creationId xmlns:a16="http://schemas.microsoft.com/office/drawing/2014/main" id="{A59E7986-EB04-16BD-D403-00812F4FDD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66950" y="1173829"/>
            <a:ext cx="3665631" cy="463186"/>
          </a:xfrm>
        </p:spPr>
        <p:txBody>
          <a:bodyPr>
            <a:normAutofit lnSpcReduction="10000"/>
          </a:bodyPr>
          <a:lstStyle/>
          <a:p>
            <a:r>
              <a:rPr lang="ru-RU" dirty="0"/>
              <a:t>Факультет</a:t>
            </a:r>
          </a:p>
          <a:p>
            <a:r>
              <a:rPr lang="ru-RU" dirty="0"/>
              <a:t>Компьютерных наук</a:t>
            </a:r>
          </a:p>
        </p:txBody>
      </p:sp>
    </p:spTree>
    <p:extLst>
      <p:ext uri="{BB962C8B-B14F-4D97-AF65-F5344CB8AC3E}">
        <p14:creationId xmlns:p14="http://schemas.microsoft.com/office/powerpoint/2010/main" val="9823253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B5B18-B9DB-05EC-0514-E86F04518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7849F57-5D84-933E-2E46-006428932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102D69"/>
                </a:solidFill>
              </a:rPr>
              <a:t>Характер задачи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3F451AC-2FE3-3127-3E8D-7EF15DEB565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5897" y="2379663"/>
            <a:ext cx="5245561" cy="3405501"/>
          </a:xfrm>
        </p:spPr>
        <p:txBody>
          <a:bodyPr>
            <a:noAutofit/>
          </a:bodyPr>
          <a:lstStyle/>
          <a:p>
            <a:pPr>
              <a:spcBef>
                <a:spcPts val="1300"/>
              </a:spcBef>
            </a:pPr>
            <a:endParaRPr lang="ru-RU" sz="1200" b="1" dirty="0"/>
          </a:p>
          <a:p>
            <a:pPr>
              <a:spcBef>
                <a:spcPts val="1300"/>
              </a:spcBef>
            </a:pPr>
            <a:r>
              <a:rPr lang="ru-RU" sz="1200" b="1" dirty="0"/>
              <a:t>Объект</a:t>
            </a:r>
            <a:r>
              <a:rPr lang="ru-RU" sz="1200" dirty="0"/>
              <a:t>: Процесс механической обработки на станках с ЧПУ</a:t>
            </a:r>
            <a:endParaRPr lang="en-US" sz="1200" dirty="0"/>
          </a:p>
          <a:p>
            <a:pPr>
              <a:spcBef>
                <a:spcPts val="1300"/>
              </a:spcBef>
            </a:pPr>
            <a:r>
              <a:rPr lang="ru-RU" sz="1200" b="1" dirty="0"/>
              <a:t>Сложность и данные</a:t>
            </a:r>
            <a:r>
              <a:rPr lang="ru-RU" sz="1200" dirty="0"/>
              <a:t>: </a:t>
            </a:r>
          </a:p>
          <a:p>
            <a:pPr>
              <a:spcBef>
                <a:spcPts val="1300"/>
              </a:spcBef>
            </a:pPr>
            <a:r>
              <a:rPr lang="ru-RU" sz="1200" dirty="0"/>
              <a:t>	нелинейная зависимость </a:t>
            </a:r>
          </a:p>
          <a:p>
            <a:pPr>
              <a:spcBef>
                <a:spcPts val="1300"/>
              </a:spcBef>
            </a:pPr>
            <a:r>
              <a:rPr lang="ru-RU" sz="1200" dirty="0"/>
              <a:t>	геометрический фактор</a:t>
            </a:r>
          </a:p>
          <a:p>
            <a:pPr>
              <a:spcBef>
                <a:spcPts val="1300"/>
              </a:spcBef>
            </a:pPr>
            <a:r>
              <a:rPr lang="ru-RU" sz="1200" dirty="0"/>
              <a:t>	разнородные данные</a:t>
            </a:r>
          </a:p>
          <a:p>
            <a:pPr>
              <a:spcBef>
                <a:spcPts val="1300"/>
              </a:spcBef>
            </a:pPr>
            <a:r>
              <a:rPr lang="ru-RU" sz="1200" b="1" dirty="0"/>
              <a:t>Статистические модели:</a:t>
            </a:r>
          </a:p>
          <a:p>
            <a:pPr>
              <a:spcBef>
                <a:spcPts val="1300"/>
              </a:spcBef>
            </a:pPr>
            <a:r>
              <a:rPr lang="ru-RU" sz="1200" dirty="0"/>
              <a:t>Используют агрегированные признаки (длина, объем), полностью игнорируя локальную геометрию и визуальные паттерны сложности.</a:t>
            </a:r>
            <a:br>
              <a:rPr lang="ru-RU" sz="1200" dirty="0"/>
            </a:br>
            <a:endParaRPr lang="ru-RU" sz="12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CDC857B-E0ED-3790-C3AC-C28AD5CFF34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Магистратура</a:t>
            </a:r>
          </a:p>
          <a:p>
            <a:r>
              <a:rPr lang="ru-RU" dirty="0"/>
              <a:t>«Искусственный интеллект»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02E2973C-30CE-F4DA-B168-C8A1B28931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ru-RU" dirty="0"/>
              <a:t>Планирование работы фрезерных станков с использованием ИИ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A4876584-322E-420D-8CC2-517CE98C02E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>
                <a:solidFill>
                  <a:srgbClr val="102D69"/>
                </a:solidFill>
              </a:rPr>
              <a:t>О проекте</a:t>
            </a:r>
          </a:p>
          <a:p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A2B4FB3-5D04-E2F7-539F-82F49ED33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0302" y="1566862"/>
            <a:ext cx="4495800" cy="3724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4547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EAF03B-EC26-1D47-94AC-C7594286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102D69"/>
                </a:solidFill>
              </a:rPr>
              <a:t>О проекте</a:t>
            </a:r>
            <a:br>
              <a:rPr lang="ru-RU" dirty="0">
                <a:solidFill>
                  <a:srgbClr val="102D69"/>
                </a:solidFill>
              </a:rPr>
            </a:b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3356540-7218-FF4B-B6BC-5BD291A372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5897" y="2379663"/>
            <a:ext cx="5245561" cy="3342127"/>
          </a:xfrm>
        </p:spPr>
        <p:txBody>
          <a:bodyPr>
            <a:normAutofit/>
          </a:bodyPr>
          <a:lstStyle/>
          <a:p>
            <a:pPr>
              <a:spcBef>
                <a:spcPts val="1300"/>
              </a:spcBef>
            </a:pPr>
            <a:endParaRPr lang="ru-RU" b="1" dirty="0"/>
          </a:p>
          <a:p>
            <a:pPr>
              <a:spcBef>
                <a:spcPts val="1300"/>
              </a:spcBef>
            </a:pPr>
            <a:r>
              <a:rPr lang="ru-RU" b="1" dirty="0"/>
              <a:t>Проблематика</a:t>
            </a:r>
            <a:r>
              <a:rPr lang="ru-RU" dirty="0"/>
              <a:t>: Расхождение между расчетным временем в CAM-системах и фактическим достигает 25–40%.</a:t>
            </a:r>
          </a:p>
          <a:p>
            <a:pPr>
              <a:spcBef>
                <a:spcPts val="1300"/>
              </a:spcBef>
            </a:pPr>
            <a:r>
              <a:rPr lang="ru-RU" dirty="0"/>
              <a:t>«</a:t>
            </a:r>
            <a:r>
              <a:rPr lang="ru-RU" b="1" dirty="0"/>
              <a:t>Простая статистика</a:t>
            </a:r>
            <a:r>
              <a:rPr lang="ru-RU" dirty="0"/>
              <a:t>» (коэффициенты) не работает</a:t>
            </a:r>
            <a:br>
              <a:rPr lang="ru-RU" dirty="0"/>
            </a:br>
            <a:r>
              <a:rPr lang="ru-RU" sz="1000" i="1" dirty="0"/>
              <a:t>Ошибка коррелирует со сложностью</a:t>
            </a:r>
          </a:p>
          <a:p>
            <a:pPr>
              <a:spcBef>
                <a:spcPts val="1300"/>
              </a:spcBef>
            </a:pPr>
            <a:r>
              <a:rPr lang="ru-RU" b="1" dirty="0"/>
              <a:t>«Модели </a:t>
            </a:r>
            <a:r>
              <a:rPr lang="en-US" b="1" dirty="0"/>
              <a:t>CAM</a:t>
            </a:r>
            <a:r>
              <a:rPr lang="ru-RU" b="1" dirty="0"/>
              <a:t>»</a:t>
            </a:r>
            <a:r>
              <a:rPr lang="en-US" b="1" dirty="0"/>
              <a:t> - </a:t>
            </a:r>
            <a:r>
              <a:rPr lang="ru-RU" dirty="0"/>
              <a:t>основаны на идеализированных расчётах</a:t>
            </a:r>
            <a:br>
              <a:rPr lang="ru-RU" sz="1200" i="1" dirty="0"/>
            </a:b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Магистратура</a:t>
            </a:r>
          </a:p>
          <a:p>
            <a:r>
              <a:rPr lang="ru-RU" dirty="0"/>
              <a:t>«Искусственный интеллект»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ru-RU" dirty="0"/>
              <a:t>Планирование работы фрезерных станков с использованием ИИ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8968744-3B75-9B47-92FD-77E1E725F23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>
                <a:solidFill>
                  <a:srgbClr val="102D69"/>
                </a:solidFill>
              </a:rPr>
              <a:t>О проекте</a:t>
            </a:r>
          </a:p>
          <a:p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F28DEE2-6AE8-22A3-BF30-D7106C13B0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191728"/>
            <a:ext cx="5510102" cy="2799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97792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54F6B-6376-F5BF-5DBD-ED858DE6F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6EA2C6AF-9037-416A-F290-4F400DE5B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102D69"/>
                </a:solidFill>
              </a:rPr>
              <a:t>Экспериментальное подтверждение</a:t>
            </a:r>
            <a:br>
              <a:rPr lang="ru-RU" dirty="0">
                <a:solidFill>
                  <a:srgbClr val="102D69"/>
                </a:solidFill>
              </a:rPr>
            </a:b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5DCFAA5-F0C0-C4E8-2BF0-68A4EDA1B3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Магистратура</a:t>
            </a:r>
          </a:p>
          <a:p>
            <a:r>
              <a:rPr lang="ru-RU" dirty="0"/>
              <a:t>«Искусственный интеллект»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C06ED20-F945-0DC0-7068-D733561299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ru-RU" dirty="0"/>
              <a:t>Планирование работы фрезерных станков с использованием ИИ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0FA1B482-D805-0C44-6278-4D3FE28B562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Экспериментальное подтверждение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4EA9D9E-91E7-1BCA-80FC-B4CF4D882F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227" y="2190750"/>
            <a:ext cx="8715375" cy="247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171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EAF03B-EC26-1D47-94AC-C7594286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102D69"/>
                </a:solidFill>
              </a:rPr>
              <a:t>Поставленные задачи</a:t>
            </a:r>
            <a:br>
              <a:rPr lang="ru-RU" dirty="0">
                <a:solidFill>
                  <a:srgbClr val="102D69"/>
                </a:solidFill>
              </a:rPr>
            </a:b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3356540-7218-FF4B-B6BC-5BD291A372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5897" y="2379663"/>
            <a:ext cx="8250285" cy="3393234"/>
          </a:xfrm>
        </p:spPr>
        <p:txBody>
          <a:bodyPr>
            <a:normAutofit/>
          </a:bodyPr>
          <a:lstStyle/>
          <a:p>
            <a:pPr>
              <a:spcBef>
                <a:spcPts val="1300"/>
              </a:spcBef>
            </a:pPr>
            <a:endParaRPr lang="en-US" sz="1600" dirty="0"/>
          </a:p>
          <a:p>
            <a:pPr>
              <a:spcBef>
                <a:spcPts val="1300"/>
              </a:spcBef>
            </a:pPr>
            <a:r>
              <a:rPr lang="ru-RU" sz="1600" dirty="0"/>
              <a:t>Сбор и анализ управленческих данных из «1С:Предприятие 8.3».</a:t>
            </a:r>
          </a:p>
          <a:p>
            <a:pPr>
              <a:spcBef>
                <a:spcPts val="1300"/>
              </a:spcBef>
            </a:pPr>
            <a:r>
              <a:rPr lang="ru-RU" sz="1600" dirty="0"/>
              <a:t>Интеллектуальная очистка визуального и табличного датасетов.</a:t>
            </a:r>
          </a:p>
          <a:p>
            <a:pPr>
              <a:spcBef>
                <a:spcPts val="1300"/>
              </a:spcBef>
            </a:pPr>
            <a:r>
              <a:rPr lang="ru-RU" sz="1600" dirty="0"/>
              <a:t>Построение мультимодальной предиктивной модели</a:t>
            </a:r>
          </a:p>
          <a:p>
            <a:pPr>
              <a:spcBef>
                <a:spcPts val="1300"/>
              </a:spcBef>
            </a:pPr>
            <a:r>
              <a:rPr lang="ru-RU" sz="1600" dirty="0"/>
              <a:t>Экспериментальная апробация и оценка экономического эффекта.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Магистратура</a:t>
            </a:r>
          </a:p>
          <a:p>
            <a:r>
              <a:rPr lang="ru-RU" dirty="0"/>
              <a:t>«Искусственный интеллект»</a:t>
            </a:r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ru-RU" dirty="0"/>
              <a:t>Планирование работы фрезерных станков с использованием ИИ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8968744-3B75-9B47-92FD-77E1E725F23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>
                <a:solidFill>
                  <a:srgbClr val="102D69"/>
                </a:solidFill>
              </a:rPr>
              <a:t>Поставленные задачи</a:t>
            </a:r>
            <a:br>
              <a:rPr lang="ru-RU" dirty="0">
                <a:solidFill>
                  <a:srgbClr val="102D69"/>
                </a:solidFill>
              </a:rPr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435775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6BE47-F356-81EC-C6ED-2B4D15DB4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57DBBAF8-F843-3CB2-0E8D-6A8F52EFA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102D69"/>
                </a:solidFill>
              </a:rPr>
              <a:t>Источники данные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2AA3DD5-A1A3-C6BC-B97A-DAC01B71B08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285750" indent="-285750">
              <a:spcBef>
                <a:spcPts val="1300"/>
              </a:spcBef>
              <a:buFont typeface="Arial" panose="020B0604020202020204" pitchFamily="34" charset="0"/>
              <a:buChar char="•"/>
            </a:pPr>
            <a:r>
              <a:rPr lang="ru-RU" dirty="0"/>
              <a:t>Данные управленческой системы (1С Конфигурация УНФ)</a:t>
            </a:r>
          </a:p>
          <a:p>
            <a:pPr marL="285750" indent="-285750">
              <a:spcBef>
                <a:spcPts val="1300"/>
              </a:spcBef>
              <a:buFont typeface="Arial" panose="020B0604020202020204" pitchFamily="34" charset="0"/>
              <a:buChar char="•"/>
            </a:pPr>
            <a:r>
              <a:rPr lang="ru-RU" dirty="0"/>
              <a:t>Данные работы станов с ЧПУ (</a:t>
            </a:r>
            <a:r>
              <a:rPr lang="en-US" dirty="0"/>
              <a:t>Datron, </a:t>
            </a:r>
            <a:r>
              <a:rPr lang="ru-RU" dirty="0"/>
              <a:t>Рух-сервопривод)</a:t>
            </a:r>
          </a:p>
          <a:p>
            <a:pPr marL="285750" indent="-285750">
              <a:spcBef>
                <a:spcPts val="1300"/>
              </a:spcBef>
              <a:buFont typeface="Arial" panose="020B0604020202020204" pitchFamily="34" charset="0"/>
              <a:buChar char="•"/>
            </a:pPr>
            <a:r>
              <a:rPr lang="ru-RU" dirty="0"/>
              <a:t>Графические изображения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97A47FF-B23F-DC58-AC88-9A7269D803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Магистратура</a:t>
            </a:r>
          </a:p>
          <a:p>
            <a:r>
              <a:rPr lang="ru-RU" dirty="0"/>
              <a:t>«Искусственный интеллект»</a:t>
            </a:r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34003C-75CF-6404-EE80-2025F1D426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ru-RU" dirty="0"/>
              <a:t>Планирование работы фрезерных станков с использованием ИИ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7BD9F419-5925-9C07-C8DD-88AC0037ED8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>
                <a:solidFill>
                  <a:srgbClr val="102D69"/>
                </a:solidFill>
              </a:rPr>
              <a:t>Данные: Источники</a:t>
            </a:r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2701C93-E390-C587-37AF-EBE67FD43A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96976"/>
            <a:ext cx="2827374" cy="1455678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202AF6C2-52FB-7571-CE17-31C57DEE67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270" y="1402911"/>
            <a:ext cx="399956" cy="341296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32184489-0692-5B48-C820-10E60389A8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2757" y="3310356"/>
            <a:ext cx="2570862" cy="391218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01B80D5E-9F36-D70E-3E3A-6361B7E89F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2610" y="3298950"/>
            <a:ext cx="399956" cy="402623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3FF89DD-C7C4-2115-DBB7-ACCD737A94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7538660" y="4566199"/>
            <a:ext cx="1713981" cy="1072980"/>
          </a:xfrm>
          <a:prstGeom prst="rect">
            <a:avLst/>
          </a:prstGeom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4D7F84F2-8C86-8D69-FA67-69179C7B48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4566199"/>
            <a:ext cx="1373109" cy="1174928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7BEB25E2-31EE-918E-F93D-A2B6077EC04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38653" y="3705065"/>
            <a:ext cx="819617" cy="450789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4104D1A7-02AA-D5AD-4ABD-7DA6E33F2F2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0" y="3703408"/>
            <a:ext cx="1026106" cy="424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004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7686AF3F-C863-864E-AFDC-D574F8060B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Магистратура</a:t>
            </a:r>
          </a:p>
          <a:p>
            <a:r>
              <a:rPr lang="ru-RU" dirty="0"/>
              <a:t>«Искусственный интеллект»</a:t>
            </a:r>
          </a:p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A1EC68-7619-8F49-AEC3-176ECF1F6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ru-RU" dirty="0"/>
              <a:t>Планирование работы фрезерных станков с использованием ИИ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23B065-0902-0141-A245-63D5DCF436E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Данные: Инженерия признаков</a:t>
            </a: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3872CBB7-AE1B-9D40-A298-6BDF023AF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rgbClr val="102D69"/>
                </a:solidFill>
              </a:rPr>
              <a:t>Инженерия признаков</a:t>
            </a:r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87F297E4-9695-684A-A8A3-54FEC94600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5899" y="2379663"/>
            <a:ext cx="3934344" cy="3792537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Нормативно-технологические данные: </a:t>
            </a:r>
            <a:r>
              <a:rPr lang="ru-RU" dirty="0"/>
              <a:t>тип операции обработки, допуски, вид материала, наименование оборудования, коэффициенты для обработки, вид проекта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Геометрический данные:</a:t>
            </a:r>
            <a:r>
              <a:rPr lang="ru-RU" dirty="0"/>
              <a:t> площадь обработки, объем материала, длина траектории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Сгенерированные показатели: </a:t>
            </a:r>
            <a:r>
              <a:rPr lang="ru-RU" dirty="0"/>
              <a:t>Удельная сложность, нагрузка на инструмент, компактности</a:t>
            </a:r>
            <a:endParaRPr lang="ru-RU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Подбор признаков: </a:t>
            </a:r>
            <a:r>
              <a:rPr lang="ru-RU" dirty="0"/>
              <a:t>многоэтапный итерационный процесс: от базовых моделей к оптимизированным ансамблям с применением «робастной» обработки выбросов и подбором </a:t>
            </a:r>
            <a:r>
              <a:rPr lang="ru-RU" dirty="0" err="1"/>
              <a:t>гиперпараметров</a:t>
            </a:r>
            <a:r>
              <a:rPr lang="ru-RU" dirty="0"/>
              <a:t> методом случайного поиска.</a:t>
            </a:r>
          </a:p>
        </p:txBody>
      </p:sp>
      <p:graphicFrame>
        <p:nvGraphicFramePr>
          <p:cNvPr id="16" name="Chart 1">
            <a:extLst>
              <a:ext uri="{FF2B5EF4-FFF2-40B4-BE49-F238E27FC236}">
                <a16:creationId xmlns:a16="http://schemas.microsoft.com/office/drawing/2014/main" id="{7B6906F8-D4AC-BAFD-49CF-D67D4996B1E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49541173"/>
              </p:ext>
            </p:extLst>
          </p:nvPr>
        </p:nvGraphicFramePr>
        <p:xfrm>
          <a:off x="7972424" y="2224815"/>
          <a:ext cx="4000501" cy="30970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7" name="Chart 1">
            <a:extLst>
              <a:ext uri="{FF2B5EF4-FFF2-40B4-BE49-F238E27FC236}">
                <a16:creationId xmlns:a16="http://schemas.microsoft.com/office/drawing/2014/main" id="{B754EAF9-1467-F5EA-2FCD-DCB331A364F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974029"/>
              </p:ext>
            </p:extLst>
          </p:nvPr>
        </p:nvGraphicFramePr>
        <p:xfrm>
          <a:off x="4324350" y="2224815"/>
          <a:ext cx="3733799" cy="29567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581150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ABE1F6DB-2C79-0F40-985F-DB8180BAFB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Магистратура</a:t>
            </a:r>
          </a:p>
          <a:p>
            <a:r>
              <a:rPr lang="ru-RU" dirty="0"/>
              <a:t>«Искусственный интеллект»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CC9B4C-151F-204A-9B26-BE1838EFB2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ru-RU" dirty="0"/>
              <a:t>Планирование работы фрезерных станков с использованием ИИ</a:t>
            </a:r>
          </a:p>
          <a:p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3CD81CA-2715-AB4B-A575-27FBCE550D2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Исследовательский анализ данных: Выявление аномалий</a:t>
            </a: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D6248A15-8E7E-BC4A-A1F2-4446573BC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102D69"/>
                </a:solidFill>
              </a:rPr>
              <a:t>Выявление аномалий</a:t>
            </a:r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59A9C6-69C4-5447-8A46-A98387532C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5897" y="2379663"/>
            <a:ext cx="5881577" cy="2944812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Влияние человеческого фактора на скорость обработки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Ошибки операторов станков с ЧПУ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Дополнительные проверки и технологические операции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Контроль, и повторная обработка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Обнаружено: до 15% записей содержат аномалии (сбои, ошибки регистрации)</a:t>
            </a:r>
          </a:p>
          <a:p>
            <a:r>
              <a:rPr lang="ru-RU" dirty="0"/>
              <a:t>Дополнение управленческой системы необходимыми параметрами</a:t>
            </a:r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8" name="Chart 2">
                <a:extLst>
                  <a:ext uri="{FF2B5EF4-FFF2-40B4-BE49-F238E27FC236}">
                    <a16:creationId xmlns:a16="http://schemas.microsoft.com/office/drawing/2014/main" id="{9B5DA202-1B8D-839C-AACF-FBDE3F5D1515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777941327"/>
                  </p:ext>
                </p:extLst>
              </p:nvPr>
            </p:nvGraphicFramePr>
            <p:xfrm>
              <a:off x="5905499" y="1447791"/>
              <a:ext cx="5534025" cy="421006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8" name="Chart 2">
                <a:extLst>
                  <a:ext uri="{FF2B5EF4-FFF2-40B4-BE49-F238E27FC236}">
                    <a16:creationId xmlns:a16="http://schemas.microsoft.com/office/drawing/2014/main" id="{9B5DA202-1B8D-839C-AACF-FBDE3F5D151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905499" y="1447791"/>
                <a:ext cx="5534025" cy="42100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82655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AFC06-7A64-55A1-3B0B-FEB5ED8DE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09DD8AF6-B98B-327E-7925-6EA6C6D2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102D69"/>
                </a:solidFill>
              </a:rPr>
              <a:t>Метрики качества прогнозирования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064901-7D03-5E64-A574-8A71173F8D9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5897" y="2379663"/>
            <a:ext cx="6519753" cy="1639887"/>
          </a:xfrm>
        </p:spPr>
        <p:txBody>
          <a:bodyPr/>
          <a:lstStyle/>
          <a:p>
            <a:pPr>
              <a:spcBef>
                <a:spcPts val="1300"/>
              </a:spcBef>
            </a:pPr>
            <a:r>
              <a:rPr lang="ru-RU" dirty="0"/>
              <a:t>R² (Коэффициент детерминации):</a:t>
            </a:r>
          </a:p>
          <a:p>
            <a:pPr>
              <a:spcBef>
                <a:spcPts val="1300"/>
              </a:spcBef>
            </a:pPr>
            <a:endParaRPr lang="ru-RU" dirty="0"/>
          </a:p>
          <a:p>
            <a:pPr>
              <a:spcBef>
                <a:spcPts val="1300"/>
              </a:spcBef>
            </a:pPr>
            <a:endParaRPr lang="ru-RU" dirty="0"/>
          </a:p>
          <a:p>
            <a:pPr>
              <a:spcBef>
                <a:spcPts val="1300"/>
              </a:spcBef>
            </a:pPr>
            <a:r>
              <a:rPr lang="ru-RU" dirty="0"/>
              <a:t>MAE (Средняя абсолютная ошибка): для диапазона данных от 1 до 30 часов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5B687D6-80CD-70A3-2211-F92DA441C0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Магистратура</a:t>
            </a:r>
          </a:p>
          <a:p>
            <a:r>
              <a:rPr lang="ru-RU" dirty="0"/>
              <a:t>«Искусственный интеллект»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601E611-4AA4-2438-4487-BF5A918C962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ru-RU" dirty="0"/>
              <a:t>Планирование работы фрезерных станков с использованием ИИ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8830B1C-83D5-CE15-989D-87E488DD6A9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>
                <a:solidFill>
                  <a:srgbClr val="102D69"/>
                </a:solidFill>
              </a:rPr>
              <a:t>Метрики качества прогнозирования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375E806-465C-7155-E1BC-25D095702A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0020" y="3066256"/>
            <a:ext cx="3401417" cy="110893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5694C97-CE58-F110-2150-C661A89DC4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389" y="1825195"/>
            <a:ext cx="3263437" cy="1108935"/>
          </a:xfrm>
          <a:prstGeom prst="rect">
            <a:avLst/>
          </a:prstGeom>
        </p:spPr>
      </p:pic>
      <p:sp>
        <p:nvSpPr>
          <p:cNvPr id="12" name="Текст 3">
            <a:extLst>
              <a:ext uri="{FF2B5EF4-FFF2-40B4-BE49-F238E27FC236}">
                <a16:creationId xmlns:a16="http://schemas.microsoft.com/office/drawing/2014/main" id="{6AF725B0-1C56-91B1-C1BE-EEE2E1BE5198}"/>
              </a:ext>
            </a:extLst>
          </p:cNvPr>
          <p:cNvSpPr txBox="1">
            <a:spLocks/>
          </p:cNvSpPr>
          <p:nvPr/>
        </p:nvSpPr>
        <p:spPr>
          <a:xfrm>
            <a:off x="585897" y="4351338"/>
            <a:ext cx="6519753" cy="1373187"/>
          </a:xfrm>
          <a:prstGeom prst="rect">
            <a:avLst/>
          </a:prstGeom>
        </p:spPr>
        <p:txBody>
          <a:bodyPr vert="horz" lIns="0" tIns="0" rIns="0" bIns="45720" rtlCol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300"/>
              </a:spcBef>
            </a:pPr>
            <a:r>
              <a:rPr lang="ru-RU" sz="1000" dirty="0"/>
              <a:t>Долю вариации данных, которая модель смогла объяснить: от 0.6-0.2</a:t>
            </a:r>
            <a:endParaRPr lang="en-US" sz="1000" dirty="0"/>
          </a:p>
          <a:p>
            <a:pPr>
              <a:spcBef>
                <a:spcPts val="1300"/>
              </a:spcBef>
            </a:pPr>
            <a:r>
              <a:rPr lang="ru-RU" sz="1000" dirty="0"/>
              <a:t>Правило 10%</a:t>
            </a:r>
            <a:r>
              <a:rPr lang="en-US" sz="1000" dirty="0"/>
              <a:t> </a:t>
            </a:r>
            <a:r>
              <a:rPr lang="ru-RU" sz="1000" dirty="0"/>
              <a:t>для </a:t>
            </a:r>
            <a:r>
              <a:rPr lang="en-US" sz="1000" dirty="0"/>
              <a:t>MAE</a:t>
            </a:r>
          </a:p>
          <a:p>
            <a:pPr>
              <a:spcBef>
                <a:spcPts val="1300"/>
              </a:spcBef>
            </a:pPr>
            <a:endParaRPr lang="ru-RU" sz="10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71C4BF2-1E6D-20E8-611A-EDF152D3CB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8389" y="4351339"/>
            <a:ext cx="5724060" cy="1500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8495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34F2A-A0CF-4E31-99B3-BA5128B71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0355C99E-9D0B-0A13-4737-F8B6A61DA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102D69"/>
                </a:solidFill>
              </a:rPr>
              <a:t>Структура проекта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8021B37-9A1F-D96B-F912-353ADA91DF7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spcBef>
                <a:spcPts val="1300"/>
              </a:spcBef>
            </a:pPr>
            <a:r>
              <a:rPr lang="ru-RU" dirty="0"/>
              <a:t>Теоретический обзор, постановка задачи и выбор стека</a:t>
            </a:r>
          </a:p>
          <a:p>
            <a:pPr>
              <a:spcBef>
                <a:spcPts val="1300"/>
              </a:spcBef>
            </a:pPr>
            <a:r>
              <a:rPr lang="ru-RU" dirty="0"/>
              <a:t>Программная реализация, инженерия признаков и дообучение модели. </a:t>
            </a:r>
          </a:p>
          <a:p>
            <a:pPr>
              <a:spcBef>
                <a:spcPts val="1300"/>
              </a:spcBef>
            </a:pPr>
            <a:r>
              <a:rPr lang="ru-RU" dirty="0"/>
              <a:t>Интеграция в производство и расчет экономического эффекта.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6A0CDEC-931D-2AC4-E203-2B1C3F7703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Магистратура</a:t>
            </a:r>
          </a:p>
          <a:p>
            <a:r>
              <a:rPr lang="ru-RU" dirty="0"/>
              <a:t>«Искусственный интеллект»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D84F9AE1-C81B-C710-E525-A4C368B8E5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ru-RU" dirty="0"/>
              <a:t>Планирование работы фрезерных станков с использованием ИИ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6B44694-94B2-5AC2-8C52-DCFFCDC250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>
                <a:solidFill>
                  <a:srgbClr val="102D69"/>
                </a:solidFill>
              </a:rPr>
              <a:t>Структура проекта</a:t>
            </a:r>
          </a:p>
        </p:txBody>
      </p:sp>
      <p:sp>
        <p:nvSpPr>
          <p:cNvPr id="8" name="Блок-схема: альтернативный процесс 7">
            <a:extLst>
              <a:ext uri="{FF2B5EF4-FFF2-40B4-BE49-F238E27FC236}">
                <a16:creationId xmlns:a16="http://schemas.microsoft.com/office/drawing/2014/main" id="{64637B0D-AD05-B1C3-DBCB-80C0217F5680}"/>
              </a:ext>
            </a:extLst>
          </p:cNvPr>
          <p:cNvSpPr/>
          <p:nvPr/>
        </p:nvSpPr>
        <p:spPr>
          <a:xfrm>
            <a:off x="688064" y="3560317"/>
            <a:ext cx="1548142" cy="878186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Сбор данных</a:t>
            </a:r>
          </a:p>
        </p:txBody>
      </p:sp>
      <p:sp>
        <p:nvSpPr>
          <p:cNvPr id="9" name="Блок-схема: альтернативный процесс 8">
            <a:extLst>
              <a:ext uri="{FF2B5EF4-FFF2-40B4-BE49-F238E27FC236}">
                <a16:creationId xmlns:a16="http://schemas.microsoft.com/office/drawing/2014/main" id="{B7BE3026-4F36-E24A-2BBC-08D3C93B5A87}"/>
              </a:ext>
            </a:extLst>
          </p:cNvPr>
          <p:cNvSpPr/>
          <p:nvPr/>
        </p:nvSpPr>
        <p:spPr>
          <a:xfrm>
            <a:off x="2388606" y="3560317"/>
            <a:ext cx="1548142" cy="878186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Обработка данных</a:t>
            </a:r>
          </a:p>
        </p:txBody>
      </p:sp>
      <p:sp>
        <p:nvSpPr>
          <p:cNvPr id="10" name="Блок-схема: альтернативный процесс 9">
            <a:extLst>
              <a:ext uri="{FF2B5EF4-FFF2-40B4-BE49-F238E27FC236}">
                <a16:creationId xmlns:a16="http://schemas.microsoft.com/office/drawing/2014/main" id="{9CEFAE06-9625-9B95-218C-A9E098AC9A32}"/>
              </a:ext>
            </a:extLst>
          </p:cNvPr>
          <p:cNvSpPr/>
          <p:nvPr/>
        </p:nvSpPr>
        <p:spPr>
          <a:xfrm>
            <a:off x="4080756" y="3560317"/>
            <a:ext cx="1548142" cy="878186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Обучение на табличных данных</a:t>
            </a:r>
          </a:p>
        </p:txBody>
      </p:sp>
      <p:sp>
        <p:nvSpPr>
          <p:cNvPr id="11" name="Блок-схема: альтернативный процесс 10">
            <a:extLst>
              <a:ext uri="{FF2B5EF4-FFF2-40B4-BE49-F238E27FC236}">
                <a16:creationId xmlns:a16="http://schemas.microsoft.com/office/drawing/2014/main" id="{1C00F2FA-1E31-5364-30AE-067C4933FA21}"/>
              </a:ext>
            </a:extLst>
          </p:cNvPr>
          <p:cNvSpPr/>
          <p:nvPr/>
        </p:nvSpPr>
        <p:spPr>
          <a:xfrm>
            <a:off x="4080756" y="4707499"/>
            <a:ext cx="1548142" cy="878186"/>
          </a:xfrm>
          <a:prstGeom prst="flowChartAlternateProcess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Мультимодальные модели</a:t>
            </a:r>
          </a:p>
        </p:txBody>
      </p:sp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4E4CE1AE-7608-C8A6-722A-D45A67FC8E97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236206" y="3999410"/>
            <a:ext cx="152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7DD4190A-7B41-D398-2F72-C07EBFE5EA49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3936748" y="3999410"/>
            <a:ext cx="1440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2304E65F-939A-4A38-94E1-53925B669D46}"/>
              </a:ext>
            </a:extLst>
          </p:cNvPr>
          <p:cNvCxnSpPr>
            <a:stCxn id="9" idx="2"/>
            <a:endCxn id="11" idx="1"/>
          </p:cNvCxnSpPr>
          <p:nvPr/>
        </p:nvCxnSpPr>
        <p:spPr>
          <a:xfrm>
            <a:off x="3162677" y="4438503"/>
            <a:ext cx="918079" cy="7080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Блок-схема: альтернативный процесс 14">
            <a:extLst>
              <a:ext uri="{FF2B5EF4-FFF2-40B4-BE49-F238E27FC236}">
                <a16:creationId xmlns:a16="http://schemas.microsoft.com/office/drawing/2014/main" id="{313FC2F8-7D7D-59D6-956A-D6DF73BF8F98}"/>
              </a:ext>
            </a:extLst>
          </p:cNvPr>
          <p:cNvSpPr/>
          <p:nvPr/>
        </p:nvSpPr>
        <p:spPr>
          <a:xfrm>
            <a:off x="5791463" y="3560317"/>
            <a:ext cx="1548142" cy="878186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Прогнозирование</a:t>
            </a:r>
          </a:p>
        </p:txBody>
      </p:sp>
      <p:sp>
        <p:nvSpPr>
          <p:cNvPr id="16" name="Блок-схема: альтернативный процесс 15">
            <a:extLst>
              <a:ext uri="{FF2B5EF4-FFF2-40B4-BE49-F238E27FC236}">
                <a16:creationId xmlns:a16="http://schemas.microsoft.com/office/drawing/2014/main" id="{64C765A2-0E6D-D5B1-1E1B-02C8ADAB3D75}"/>
              </a:ext>
            </a:extLst>
          </p:cNvPr>
          <p:cNvSpPr/>
          <p:nvPr/>
        </p:nvSpPr>
        <p:spPr>
          <a:xfrm>
            <a:off x="7502169" y="3570887"/>
            <a:ext cx="1836597" cy="878186"/>
          </a:xfrm>
          <a:prstGeom prst="flowChartAlternateProcess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Логирование результатов</a:t>
            </a:r>
          </a:p>
        </p:txBody>
      </p: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562B775B-9FA1-6BF5-0409-E772074FEE78}"/>
              </a:ext>
            </a:extLst>
          </p:cNvPr>
          <p:cNvCxnSpPr>
            <a:cxnSpLocks/>
            <a:stCxn id="11" idx="3"/>
            <a:endCxn id="15" idx="2"/>
          </p:cNvCxnSpPr>
          <p:nvPr/>
        </p:nvCxnSpPr>
        <p:spPr>
          <a:xfrm flipV="1">
            <a:off x="5628898" y="4438503"/>
            <a:ext cx="936636" cy="708089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3B67A6C1-B0B6-4474-FEBB-26C40218A599}"/>
              </a:ext>
            </a:extLst>
          </p:cNvPr>
          <p:cNvCxnSpPr>
            <a:cxnSpLocks/>
            <a:stCxn id="10" idx="3"/>
            <a:endCxn id="15" idx="1"/>
          </p:cNvCxnSpPr>
          <p:nvPr/>
        </p:nvCxnSpPr>
        <p:spPr>
          <a:xfrm>
            <a:off x="5628898" y="3999410"/>
            <a:ext cx="162565" cy="0"/>
          </a:xfrm>
          <a:prstGeom prst="straightConnector1">
            <a:avLst/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0FEFAAE4-8215-F8FF-6AA8-6D132D0A906E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>
            <a:off x="7339605" y="3999410"/>
            <a:ext cx="162564" cy="1057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Блок-схема: альтернативный процесс 19">
            <a:extLst>
              <a:ext uri="{FF2B5EF4-FFF2-40B4-BE49-F238E27FC236}">
                <a16:creationId xmlns:a16="http://schemas.microsoft.com/office/drawing/2014/main" id="{E3496803-A6D1-191B-6562-2F3D5E2DFEA5}"/>
              </a:ext>
            </a:extLst>
          </p:cNvPr>
          <p:cNvSpPr/>
          <p:nvPr/>
        </p:nvSpPr>
        <p:spPr>
          <a:xfrm>
            <a:off x="9575438" y="3570887"/>
            <a:ext cx="1548142" cy="878186"/>
          </a:xfrm>
          <a:prstGeom prst="flowChartAlternateProcess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Генерация отчётов</a:t>
            </a:r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304F52FF-3278-661D-C892-6C6DCDA71A0B}"/>
              </a:ext>
            </a:extLst>
          </p:cNvPr>
          <p:cNvCxnSpPr>
            <a:cxnSpLocks/>
            <a:stCxn id="16" idx="3"/>
            <a:endCxn id="20" idx="1"/>
          </p:cNvCxnSpPr>
          <p:nvPr/>
        </p:nvCxnSpPr>
        <p:spPr>
          <a:xfrm>
            <a:off x="9338766" y="4009980"/>
            <a:ext cx="2366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Блок-схема: альтернативный процесс 21">
            <a:extLst>
              <a:ext uri="{FF2B5EF4-FFF2-40B4-BE49-F238E27FC236}">
                <a16:creationId xmlns:a16="http://schemas.microsoft.com/office/drawing/2014/main" id="{6BD70DCA-F2B2-0CD2-64A6-4802EDB559A0}"/>
              </a:ext>
            </a:extLst>
          </p:cNvPr>
          <p:cNvSpPr/>
          <p:nvPr/>
        </p:nvSpPr>
        <p:spPr>
          <a:xfrm>
            <a:off x="5849275" y="4703569"/>
            <a:ext cx="1490330" cy="878186"/>
          </a:xfrm>
          <a:prstGeom prst="flowChartAlternateProcess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Улучшения</a:t>
            </a:r>
          </a:p>
        </p:txBody>
      </p: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7146937E-7E8F-CC95-F647-AA09F416219F}"/>
              </a:ext>
            </a:extLst>
          </p:cNvPr>
          <p:cNvCxnSpPr>
            <a:cxnSpLocks/>
            <a:endCxn id="22" idx="1"/>
          </p:cNvCxnSpPr>
          <p:nvPr/>
        </p:nvCxnSpPr>
        <p:spPr>
          <a:xfrm>
            <a:off x="5628898" y="5132091"/>
            <a:ext cx="220377" cy="10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EC3D69E2-F39E-4620-3922-CCF11AAEAA9C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7339605" y="4449073"/>
            <a:ext cx="1080862" cy="693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2175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EAF03B-EC26-1D47-94AC-C7594286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102D69"/>
                </a:solidFill>
              </a:rPr>
              <a:t>Двухконтурная модель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3356540-7218-FF4B-B6BC-5BD291A372E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spcBef>
                <a:spcPts val="1300"/>
              </a:spcBef>
            </a:pPr>
            <a:r>
              <a:rPr lang="ru-RU" dirty="0"/>
              <a:t>Контур 1 (Табличный): Градиентный </a:t>
            </a:r>
            <a:r>
              <a:rPr lang="ru-RU" dirty="0" err="1"/>
              <a:t>бустинг</a:t>
            </a:r>
            <a:r>
              <a:rPr lang="ru-RU" dirty="0"/>
              <a:t> для типовых операций</a:t>
            </a:r>
          </a:p>
          <a:p>
            <a:pPr>
              <a:spcBef>
                <a:spcPts val="1300"/>
              </a:spcBef>
            </a:pPr>
            <a:r>
              <a:rPr lang="ru-RU" dirty="0"/>
              <a:t>Контур 2 (Когнитивный): </a:t>
            </a:r>
            <a:r>
              <a:rPr lang="ru-RU" dirty="0" err="1"/>
              <a:t>Qwen</a:t>
            </a:r>
            <a:r>
              <a:rPr lang="ru-RU" dirty="0"/>
              <a:t> для анализа сложной геометрии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Магистратура</a:t>
            </a:r>
          </a:p>
          <a:p>
            <a:r>
              <a:rPr lang="ru-RU" dirty="0"/>
              <a:t>«Искусственный интеллект»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ru-RU" dirty="0"/>
              <a:t>Планирование работы фрезерных станков с использованием ИИ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8968744-3B75-9B47-92FD-77E1E725F23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>
                <a:solidFill>
                  <a:srgbClr val="102D69"/>
                </a:solidFill>
              </a:rPr>
              <a:t>Архитектура решения: Двухконтурная модель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B2E3BF98-A1B5-48C2-97FB-5F95E8C00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457" y="1836302"/>
            <a:ext cx="5253585" cy="3764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8366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89DE17A-284C-2E41-93C3-9200CA02CA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Магистратура</a:t>
            </a:r>
          </a:p>
          <a:p>
            <a:r>
              <a:rPr lang="ru-RU" dirty="0"/>
              <a:t>«Искусственный интеллект»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978241C-36DA-AB4E-9AD3-95F879081C9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ru-RU" dirty="0"/>
              <a:t>Планирование работы фрезерных станков с использованием ИИ</a:t>
            </a:r>
          </a:p>
          <a:p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03F95F2-80C6-8C4D-9EEF-1B0C6D5074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Контур 1. Базовая архитектура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A9146A8-906F-D549-86C7-8070DF7723B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dirty="0"/>
              <a:t>Базовая архитектуры. Работа с табличными данными</a:t>
            </a:r>
          </a:p>
        </p:txBody>
      </p:sp>
      <p:graphicFrame>
        <p:nvGraphicFramePr>
          <p:cNvPr id="9" name="Table 2">
            <a:extLst>
              <a:ext uri="{FF2B5EF4-FFF2-40B4-BE49-F238E27FC236}">
                <a16:creationId xmlns:a16="http://schemas.microsoft.com/office/drawing/2014/main" id="{D12E3B33-2014-1148-A557-995194FEF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104555"/>
              </p:ext>
            </p:extLst>
          </p:nvPr>
        </p:nvGraphicFramePr>
        <p:xfrm>
          <a:off x="585787" y="1985441"/>
          <a:ext cx="4592794" cy="20464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7556">
                  <a:extLst>
                    <a:ext uri="{9D8B030D-6E8A-4147-A177-3AD203B41FA5}">
                      <a16:colId xmlns:a16="http://schemas.microsoft.com/office/drawing/2014/main" val="3757515663"/>
                    </a:ext>
                  </a:extLst>
                </a:gridCol>
                <a:gridCol w="1071746">
                  <a:extLst>
                    <a:ext uri="{9D8B030D-6E8A-4147-A177-3AD203B41FA5}">
                      <a16:colId xmlns:a16="http://schemas.microsoft.com/office/drawing/2014/main" val="4180931641"/>
                    </a:ext>
                  </a:extLst>
                </a:gridCol>
                <a:gridCol w="1071746">
                  <a:extLst>
                    <a:ext uri="{9D8B030D-6E8A-4147-A177-3AD203B41FA5}">
                      <a16:colId xmlns:a16="http://schemas.microsoft.com/office/drawing/2014/main" val="1144053917"/>
                    </a:ext>
                  </a:extLst>
                </a:gridCol>
                <a:gridCol w="1071746">
                  <a:extLst>
                    <a:ext uri="{9D8B030D-6E8A-4147-A177-3AD203B41FA5}">
                      <a16:colId xmlns:a16="http://schemas.microsoft.com/office/drawing/2014/main" val="1079961596"/>
                    </a:ext>
                  </a:extLst>
                </a:gridCol>
              </a:tblGrid>
              <a:tr h="598670">
                <a:tc>
                  <a:txBody>
                    <a:bodyPr/>
                    <a:lstStyle/>
                    <a:p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Модель</a:t>
                      </a:r>
                      <a:endParaRPr lang="en-RU" sz="1300" b="0" dirty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MAE</a:t>
                      </a:r>
                      <a:endParaRPr lang="en-RU" sz="1300" b="0" dirty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RMSE	</a:t>
                      </a:r>
                      <a:endParaRPr lang="en-RU" sz="1300" b="0" dirty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R²</a:t>
                      </a:r>
                      <a:endParaRPr lang="en-RU" sz="1300" b="0" dirty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90166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dirty="0" err="1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RandomForest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134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191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0.58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9980882"/>
                  </a:ext>
                </a:extLst>
              </a:tr>
              <a:tr h="1228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dirty="0" err="1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GradientBoosting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166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222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</a:rPr>
                        <a:t>0.44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8542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dirty="0" err="1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ExtraTrees</a:t>
                      </a:r>
                      <a:endParaRPr lang="en-RU" sz="1300" b="0" dirty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128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192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0.58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8144885"/>
                  </a:ext>
                </a:extLst>
              </a:tr>
              <a:tr h="14922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dirty="0" err="1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XGBoost</a:t>
                      </a:r>
                      <a:endParaRPr lang="en-RU" sz="1300" b="0" dirty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141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196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0.56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909998"/>
                  </a:ext>
                </a:extLst>
              </a:tr>
              <a:tr h="18559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dirty="0" err="1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LightGBM</a:t>
                      </a:r>
                      <a:endParaRPr lang="en-RU" sz="1300" b="0" dirty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150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204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0.52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585539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5251084A-0FC0-4873-455E-B70411F86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1412057"/>
              </p:ext>
            </p:extLst>
          </p:nvPr>
        </p:nvGraphicFramePr>
        <p:xfrm>
          <a:off x="5905500" y="1984075"/>
          <a:ext cx="5700713" cy="1467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8775">
                  <a:extLst>
                    <a:ext uri="{9D8B030D-6E8A-4147-A177-3AD203B41FA5}">
                      <a16:colId xmlns:a16="http://schemas.microsoft.com/office/drawing/2014/main" val="375751566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4180931641"/>
                    </a:ext>
                  </a:extLst>
                </a:gridCol>
                <a:gridCol w="1495425">
                  <a:extLst>
                    <a:ext uri="{9D8B030D-6E8A-4147-A177-3AD203B41FA5}">
                      <a16:colId xmlns:a16="http://schemas.microsoft.com/office/drawing/2014/main" val="1144053917"/>
                    </a:ext>
                  </a:extLst>
                </a:gridCol>
                <a:gridCol w="1090613">
                  <a:extLst>
                    <a:ext uri="{9D8B030D-6E8A-4147-A177-3AD203B41FA5}">
                      <a16:colId xmlns:a16="http://schemas.microsoft.com/office/drawing/2014/main" val="1079961596"/>
                    </a:ext>
                  </a:extLst>
                </a:gridCol>
              </a:tblGrid>
              <a:tr h="598670">
                <a:tc>
                  <a:txBody>
                    <a:bodyPr/>
                    <a:lstStyle/>
                    <a:p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Метрика</a:t>
                      </a:r>
                      <a:endParaRPr lang="en-RU" sz="1300" b="0" dirty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До оптимизации, значение</a:t>
                      </a:r>
                      <a:endParaRPr lang="en-RU" sz="1300" b="0" dirty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"Лазерный Фокус"</a:t>
                      </a:r>
                      <a:r>
                        <a:rPr lang="en-US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	</a:t>
                      </a:r>
                      <a:endParaRPr lang="en-RU" sz="1300" b="0" dirty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%</a:t>
                      </a:r>
                      <a:endParaRPr lang="en-RU" sz="1300" b="0" dirty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90166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MAE	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130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38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70 %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9980882"/>
                  </a:ext>
                </a:extLst>
              </a:tr>
              <a:tr h="1228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R²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0.6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0.3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</a:rPr>
                        <a:t>-56 %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8542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Выборка, единицы</a:t>
                      </a:r>
                      <a:endParaRPr lang="en-RU" sz="1300" b="0" dirty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23172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11683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-48 %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8144885"/>
                  </a:ext>
                </a:extLst>
              </a:tr>
            </a:tbl>
          </a:graphicData>
        </a:graphic>
      </p:graphicFrame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19200E4-BE00-0CE1-8707-F0C7F9907B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6613" y="2589577"/>
            <a:ext cx="218978" cy="239348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BCB63702-7AEA-90C9-EFF4-C94B596EDD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265" y="2932011"/>
            <a:ext cx="234851" cy="208163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7E0A7248-6750-5647-161E-D8FB439A4B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265" y="3217761"/>
            <a:ext cx="234851" cy="20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8315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1AFE7-61AB-D283-BE3F-A965AF87A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494B5CA3-A7C2-23F7-89EE-12BE69A86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102D69"/>
                </a:solidFill>
              </a:rPr>
              <a:t>Улучшенная архитектура на базе </a:t>
            </a:r>
            <a:r>
              <a:rPr lang="ru-RU" dirty="0" err="1">
                <a:solidFill>
                  <a:srgbClr val="102D69"/>
                </a:solidFill>
              </a:rPr>
              <a:t>Qwen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26F1FF0-C031-C23D-ED09-CA5306705C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5897" y="2379663"/>
            <a:ext cx="5245561" cy="1992312"/>
          </a:xfrm>
        </p:spPr>
        <p:txBody>
          <a:bodyPr/>
          <a:lstStyle/>
          <a:p>
            <a:pPr>
              <a:spcBef>
                <a:spcPts val="1300"/>
              </a:spcBef>
            </a:pPr>
            <a:r>
              <a:rPr lang="ru-RU" dirty="0"/>
              <a:t>Модель </a:t>
            </a:r>
            <a:r>
              <a:rPr lang="ru-RU" dirty="0" err="1"/>
              <a:t>Qwen</a:t>
            </a:r>
            <a:r>
              <a:rPr lang="ru-RU" dirty="0"/>
              <a:t> сопоставляет текст и визуал через </a:t>
            </a:r>
            <a:r>
              <a:rPr lang="ru-RU" dirty="0" err="1"/>
              <a:t>ViT</a:t>
            </a:r>
            <a:r>
              <a:rPr lang="ru-RU" dirty="0"/>
              <a:t> и языковой блок</a:t>
            </a:r>
          </a:p>
          <a:p>
            <a:pPr>
              <a:spcBef>
                <a:spcPts val="1300"/>
              </a:spcBef>
            </a:pPr>
            <a:r>
              <a:rPr lang="ru-RU" dirty="0"/>
              <a:t>Все найденные признаки сводятся в один числовой вектор</a:t>
            </a:r>
          </a:p>
          <a:p>
            <a:pPr>
              <a:spcBef>
                <a:spcPts val="1300"/>
              </a:spcBef>
            </a:pPr>
            <a:r>
              <a:rPr lang="ru-RU" dirty="0"/>
              <a:t>Регрессионная голова вычисляет финальный прогноз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1CCDBFF-AF74-A2C6-6118-66FD5DA59A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Магистратура</a:t>
            </a:r>
          </a:p>
          <a:p>
            <a:r>
              <a:rPr lang="ru-RU" dirty="0"/>
              <a:t>«Искусственный интеллект»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2745440-ACB6-FDE9-A5E9-B1B820DE97F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ru-RU" dirty="0"/>
              <a:t>Планирование работы фрезерных станков с использованием ИИ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502F08C-F7B7-11BA-2189-856A727D37D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59892" y="548720"/>
            <a:ext cx="2983696" cy="408109"/>
          </a:xfrm>
        </p:spPr>
        <p:txBody>
          <a:bodyPr/>
          <a:lstStyle/>
          <a:p>
            <a:r>
              <a:rPr lang="ru-RU" dirty="0"/>
              <a:t>Контур 2. Улучшенная архитектура на базе </a:t>
            </a:r>
            <a:r>
              <a:rPr lang="ru-RU" dirty="0" err="1"/>
              <a:t>Qwen</a:t>
            </a:r>
            <a:endParaRPr lang="ru-RU" dirty="0"/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C95F033F-9B39-7D4A-3156-1376F6A79D27}"/>
              </a:ext>
            </a:extLst>
          </p:cNvPr>
          <p:cNvSpPr txBox="1">
            <a:spLocks/>
          </p:cNvSpPr>
          <p:nvPr/>
        </p:nvSpPr>
        <p:spPr>
          <a:xfrm>
            <a:off x="585897" y="5027983"/>
            <a:ext cx="4535718" cy="764453"/>
          </a:xfrm>
          <a:prstGeom prst="rect">
            <a:avLst/>
          </a:prstGeom>
        </p:spPr>
        <p:txBody>
          <a:bodyPr vert="horz" lIns="0" tIns="0" rIns="0" bIns="45720" rtlCol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300"/>
              </a:spcBef>
            </a:pPr>
            <a:r>
              <a:rPr lang="ru-RU" sz="1000" dirty="0"/>
              <a:t>Использование </a:t>
            </a:r>
            <a:r>
              <a:rPr lang="ru-RU" sz="1000" dirty="0" err="1"/>
              <a:t>предобученной</a:t>
            </a:r>
            <a:r>
              <a:rPr lang="ru-RU" sz="1000" dirty="0"/>
              <a:t> VLM позволяет модели понимать геометрию объекта на изображении и связывать её с технологическими параметрами, указанными в тексте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4E029347-0E66-FE5D-4AC6-3ED7B57C14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362" y="1343025"/>
            <a:ext cx="5572125" cy="41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6573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00D2998-65B7-1180-5661-B39187542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3239E8CA-DBC4-074A-0B9B-60F37C87F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102D69"/>
                </a:solidFill>
              </a:rPr>
              <a:t>Улучшенная архитектура на базе </a:t>
            </a:r>
            <a:r>
              <a:rPr lang="ru-RU" dirty="0" err="1">
                <a:solidFill>
                  <a:srgbClr val="102D69"/>
                </a:solidFill>
              </a:rPr>
              <a:t>Qwen</a:t>
            </a:r>
            <a:r>
              <a:rPr lang="en-US" dirty="0">
                <a:solidFill>
                  <a:srgbClr val="102D69"/>
                </a:solidFill>
              </a:rPr>
              <a:t> + Qwen + Lora + Prompt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A53EB7C-F6E0-7406-86BC-001690C380A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5897" y="2379662"/>
            <a:ext cx="5245561" cy="2382837"/>
          </a:xfrm>
        </p:spPr>
        <p:txBody>
          <a:bodyPr>
            <a:normAutofit/>
          </a:bodyPr>
          <a:lstStyle/>
          <a:p>
            <a:pPr>
              <a:spcBef>
                <a:spcPts val="1300"/>
              </a:spcBef>
            </a:pPr>
            <a:endParaRPr lang="ru-RU" dirty="0"/>
          </a:p>
          <a:p>
            <a:pPr>
              <a:spcBef>
                <a:spcPts val="1300"/>
              </a:spcBef>
            </a:pPr>
            <a:r>
              <a:rPr lang="ru-RU" dirty="0"/>
              <a:t>Мультимодальность: сложность чертежа и технические данные </a:t>
            </a:r>
          </a:p>
          <a:p>
            <a:pPr>
              <a:spcBef>
                <a:spcPts val="1300"/>
              </a:spcBef>
            </a:pPr>
            <a:r>
              <a:rPr lang="ru-RU" dirty="0"/>
              <a:t>Гибкость: быстрая адаптация под новые типы дизайнов клише</a:t>
            </a:r>
          </a:p>
          <a:p>
            <a:pPr>
              <a:spcBef>
                <a:spcPts val="1300"/>
              </a:spcBef>
            </a:pPr>
            <a:r>
              <a:rPr lang="ru-RU" dirty="0"/>
              <a:t>Стабильность: Встроенная система обработки ошибок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FD278E1-A0A5-257F-DD1C-0465ABEEA5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Магистратура</a:t>
            </a:r>
          </a:p>
          <a:p>
            <a:r>
              <a:rPr lang="ru-RU" dirty="0"/>
              <a:t>«Искусственный интеллект»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62316102-ADA3-362D-173F-539846186BA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ru-RU" dirty="0"/>
              <a:t>Планирование работы фрезерных станков с использованием ИИ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DC3D4F3-1C93-2E61-9138-B87F5DF994F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59892" y="548720"/>
            <a:ext cx="2983696" cy="408109"/>
          </a:xfrm>
        </p:spPr>
        <p:txBody>
          <a:bodyPr/>
          <a:lstStyle/>
          <a:p>
            <a:r>
              <a:rPr lang="ru-RU" dirty="0"/>
              <a:t>Контур 2. Улучшенная архитектура на базе </a:t>
            </a:r>
            <a:r>
              <a:rPr lang="ru-RU" dirty="0" err="1"/>
              <a:t>Qwen</a:t>
            </a:r>
            <a:r>
              <a:rPr lang="ru-RU" dirty="0"/>
              <a:t> + </a:t>
            </a:r>
            <a:r>
              <a:rPr lang="en-US" dirty="0"/>
              <a:t>Lora + Prompt</a:t>
            </a:r>
            <a:endParaRPr lang="ru-RU" dirty="0"/>
          </a:p>
        </p:txBody>
      </p:sp>
      <p:sp>
        <p:nvSpPr>
          <p:cNvPr id="14" name="Текст 3">
            <a:extLst>
              <a:ext uri="{FF2B5EF4-FFF2-40B4-BE49-F238E27FC236}">
                <a16:creationId xmlns:a16="http://schemas.microsoft.com/office/drawing/2014/main" id="{6CFEF365-5F23-2615-8B59-D603FD31B9E2}"/>
              </a:ext>
            </a:extLst>
          </p:cNvPr>
          <p:cNvSpPr txBox="1">
            <a:spLocks/>
          </p:cNvSpPr>
          <p:nvPr/>
        </p:nvSpPr>
        <p:spPr>
          <a:xfrm>
            <a:off x="585897" y="5027983"/>
            <a:ext cx="4535718" cy="764453"/>
          </a:xfrm>
          <a:prstGeom prst="rect">
            <a:avLst/>
          </a:prstGeom>
        </p:spPr>
        <p:txBody>
          <a:bodyPr vert="horz" lIns="0" tIns="0" rIns="0" bIns="45720" rtlCol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300"/>
              </a:spcBef>
            </a:pPr>
            <a:r>
              <a:rPr lang="ru-RU" sz="1000" dirty="0"/>
              <a:t>Использование </a:t>
            </a:r>
            <a:r>
              <a:rPr lang="ru-RU" sz="1000" dirty="0" err="1"/>
              <a:t>предобученной</a:t>
            </a:r>
            <a:r>
              <a:rPr lang="ru-RU" sz="1000" dirty="0"/>
              <a:t> VLM позволяет модели понимать геометрию объекта на изображении и связывать её с технологическими параметрами, указанными в тексте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30579AA-246C-1F9F-5502-CB27A4D53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1940" y="1685925"/>
            <a:ext cx="5749025" cy="386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6224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80D00-A233-1DF1-8AC3-C728A2546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9BDF9587-2630-DACB-ACCC-E101DA5FC4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Магистратура</a:t>
            </a:r>
          </a:p>
          <a:p>
            <a:r>
              <a:rPr lang="ru-RU" dirty="0"/>
              <a:t>«Искусственный интеллект»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1156489-0862-9D80-4627-82C0385CAC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ru-RU" dirty="0"/>
              <a:t>Планирование работы фрезерных станков с использованием ИИ</a:t>
            </a:r>
          </a:p>
          <a:p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BEF9E41-88F6-F034-6262-BE36A002482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Контур 2. Результаты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64A001E-7BC3-51E4-258A-FB71524FD2C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85787" y="1447064"/>
            <a:ext cx="6824304" cy="537011"/>
          </a:xfrm>
        </p:spPr>
        <p:txBody>
          <a:bodyPr/>
          <a:lstStyle/>
          <a:p>
            <a:r>
              <a:rPr lang="ru-RU" sz="2400" dirty="0"/>
              <a:t>Результаты улучшенной архитектуры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E9553430-4FE8-3BB6-3690-B2D84BE15C7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rmAutofit/>
          </a:bodyPr>
          <a:lstStyle/>
          <a:p>
            <a:r>
              <a:rPr lang="ru-RU" sz="1000" dirty="0"/>
              <a:t>Для оценки производственной применимости модели использовался показатель доли прогнозов с допустимой погрешностью (±10%)</a:t>
            </a:r>
          </a:p>
        </p:txBody>
      </p:sp>
      <p:graphicFrame>
        <p:nvGraphicFramePr>
          <p:cNvPr id="9" name="Table 2">
            <a:extLst>
              <a:ext uri="{FF2B5EF4-FFF2-40B4-BE49-F238E27FC236}">
                <a16:creationId xmlns:a16="http://schemas.microsoft.com/office/drawing/2014/main" id="{F9C1A7D9-C34C-17AF-4BF7-ACF6033B2E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727055"/>
              </p:ext>
            </p:extLst>
          </p:nvPr>
        </p:nvGraphicFramePr>
        <p:xfrm>
          <a:off x="585787" y="1985441"/>
          <a:ext cx="5298001" cy="1467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4486">
                  <a:extLst>
                    <a:ext uri="{9D8B030D-6E8A-4147-A177-3AD203B41FA5}">
                      <a16:colId xmlns:a16="http://schemas.microsoft.com/office/drawing/2014/main" val="3757515663"/>
                    </a:ext>
                  </a:extLst>
                </a:gridCol>
                <a:gridCol w="576188">
                  <a:extLst>
                    <a:ext uri="{9D8B030D-6E8A-4147-A177-3AD203B41FA5}">
                      <a16:colId xmlns:a16="http://schemas.microsoft.com/office/drawing/2014/main" val="4180931641"/>
                    </a:ext>
                  </a:extLst>
                </a:gridCol>
                <a:gridCol w="595720">
                  <a:extLst>
                    <a:ext uri="{9D8B030D-6E8A-4147-A177-3AD203B41FA5}">
                      <a16:colId xmlns:a16="http://schemas.microsoft.com/office/drawing/2014/main" val="1144053917"/>
                    </a:ext>
                  </a:extLst>
                </a:gridCol>
                <a:gridCol w="766069">
                  <a:extLst>
                    <a:ext uri="{9D8B030D-6E8A-4147-A177-3AD203B41FA5}">
                      <a16:colId xmlns:a16="http://schemas.microsoft.com/office/drawing/2014/main" val="3757490919"/>
                    </a:ext>
                  </a:extLst>
                </a:gridCol>
                <a:gridCol w="835538">
                  <a:extLst>
                    <a:ext uri="{9D8B030D-6E8A-4147-A177-3AD203B41FA5}">
                      <a16:colId xmlns:a16="http://schemas.microsoft.com/office/drawing/2014/main" val="1079961596"/>
                    </a:ext>
                  </a:extLst>
                </a:gridCol>
              </a:tblGrid>
              <a:tr h="598670">
                <a:tc>
                  <a:txBody>
                    <a:bodyPr/>
                    <a:lstStyle/>
                    <a:p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Модель</a:t>
                      </a:r>
                      <a:endParaRPr lang="en-RU" sz="1300" b="0" dirty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MAE</a:t>
                      </a:r>
                      <a:endParaRPr lang="en-RU" sz="1300" b="0" dirty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RMSE	</a:t>
                      </a:r>
                      <a:endParaRPr lang="en-RU" sz="1300" b="0" dirty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Cross-Entropy</a:t>
                      </a: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Точность</a:t>
                      </a:r>
                      <a:endParaRPr lang="en-RU" sz="1300" b="0" dirty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9016697"/>
                  </a:ext>
                </a:extLst>
              </a:tr>
              <a:tr h="2638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dirty="0" err="1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LoRA</a:t>
                      </a:r>
                      <a:r>
                        <a:rPr lang="en-US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 + Prompt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11.90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0</a:t>
                      </a:r>
                      <a:r>
                        <a:rPr lang="en-US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.</a:t>
                      </a: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09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8542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Qwen2.5-VL + Regress. Head</a:t>
                      </a:r>
                      <a:endParaRPr lang="en-RU" sz="1300" b="0" dirty="0">
                        <a:ln>
                          <a:noFill/>
                        </a:ln>
                        <a:solidFill>
                          <a:srgbClr val="102D69"/>
                        </a:solidFill>
                        <a:latin typeface="HSE Sans" panose="02000000000000000000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5.4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9.5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80 %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8144885"/>
                  </a:ext>
                </a:extLst>
              </a:tr>
              <a:tr h="14922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Qwen2.5-VL-3B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12700" cmpd="sng"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3.67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4.13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300" b="0" dirty="0">
                          <a:ln>
                            <a:noFill/>
                          </a:ln>
                          <a:solidFill>
                            <a:srgbClr val="102D69"/>
                          </a:solidFill>
                          <a:latin typeface="HSE Sans" panose="02000000000000000000" pitchFamily="2" charset="0"/>
                        </a:rPr>
                        <a:t>89 %</a:t>
                      </a:r>
                      <a:endParaRPr lang="en-RU" sz="1300" dirty="0">
                        <a:ln>
                          <a:solidFill>
                            <a:schemeClr val="bg1">
                              <a:lumMod val="75000"/>
                            </a:schemeClr>
                          </a:solidFill>
                        </a:ln>
                      </a:endParaRPr>
                    </a:p>
                  </a:txBody>
                  <a:tcPr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909998"/>
                  </a:ext>
                </a:extLst>
              </a:tr>
            </a:tbl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18B9DAA-8665-D724-9862-24F4D177F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5843" y="1836123"/>
            <a:ext cx="5298002" cy="3728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62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E239B216-F5ED-B348-A1BB-CE85242168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Магистратура</a:t>
            </a:r>
          </a:p>
          <a:p>
            <a:r>
              <a:rPr lang="ru-RU" dirty="0"/>
              <a:t>«Искусственный интеллект»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986A2D4-D42B-854C-9F3E-6A8095E580B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ru-RU" dirty="0"/>
              <a:t>Планирование работы фрезерных станков с использованием ИИ</a:t>
            </a:r>
          </a:p>
          <a:p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28F0E61-4402-1545-ABC6-7EB156E5B9E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Сравнение результатов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2A84FC5-C615-ED4D-97BC-765AAF50474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289451" y="4103994"/>
            <a:ext cx="2758143" cy="1569661"/>
          </a:xfrm>
        </p:spPr>
        <p:txBody>
          <a:bodyPr/>
          <a:lstStyle/>
          <a:p>
            <a:r>
              <a:rPr lang="ru-RU" dirty="0"/>
              <a:t>Расчётное время </a:t>
            </a:r>
            <a:r>
              <a:rPr lang="en-US" dirty="0"/>
              <a:t>CAD </a:t>
            </a:r>
            <a:r>
              <a:rPr lang="ru-RU" dirty="0"/>
              <a:t>систем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F119484-3D29-A348-BD16-DC41D64EC48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761382" y="4103994"/>
            <a:ext cx="2757612" cy="1569661"/>
          </a:xfrm>
        </p:spPr>
        <p:txBody>
          <a:bodyPr/>
          <a:lstStyle/>
          <a:p>
            <a:r>
              <a:rPr lang="ru-RU" dirty="0"/>
              <a:t>Базовое решение время на основе табличных данных	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E558DF3-421A-AD4A-8AAD-D7C6C3A92B5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3313" y="4103994"/>
            <a:ext cx="2757612" cy="1569661"/>
          </a:xfrm>
        </p:spPr>
        <p:txBody>
          <a:bodyPr/>
          <a:lstStyle/>
          <a:p>
            <a:r>
              <a:rPr lang="ru-RU" dirty="0"/>
              <a:t>Улучшенная модель с учётом графических данных 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D82ABC5-6628-FA4A-9DBB-38E61DCF39F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89451" y="2710235"/>
            <a:ext cx="2758143" cy="1164116"/>
          </a:xfrm>
        </p:spPr>
        <p:txBody>
          <a:bodyPr/>
          <a:lstStyle/>
          <a:p>
            <a:r>
              <a:rPr lang="ru-RU" sz="6600" dirty="0"/>
              <a:t>25-40%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CC25597-0929-B146-8CD4-B783CF82D88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761382" y="2710235"/>
            <a:ext cx="2758143" cy="1164116"/>
          </a:xfrm>
        </p:spPr>
        <p:txBody>
          <a:bodyPr/>
          <a:lstStyle/>
          <a:p>
            <a:r>
              <a:rPr lang="ru-RU" sz="6600" dirty="0"/>
              <a:t>11-22%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34FA5CE5-ECF7-C344-83CF-2D4A06A5041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233313" y="2710235"/>
            <a:ext cx="2758143" cy="1164116"/>
          </a:xfrm>
        </p:spPr>
        <p:txBody>
          <a:bodyPr/>
          <a:lstStyle/>
          <a:p>
            <a:r>
              <a:rPr lang="ru-RU" sz="6600" dirty="0"/>
              <a:t>1-2%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983991-034C-F681-9467-BF1C0AF0D6FE}"/>
              </a:ext>
            </a:extLst>
          </p:cNvPr>
          <p:cNvSpPr txBox="1"/>
          <p:nvPr/>
        </p:nvSpPr>
        <p:spPr>
          <a:xfrm>
            <a:off x="585897" y="2085126"/>
            <a:ext cx="104726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102D69"/>
                </a:solidFill>
              </a:rPr>
              <a:t>Точность определения времени прогнозирования для фрезеровки дизайна клише</a:t>
            </a:r>
            <a:endParaRPr lang="ru-RU" dirty="0"/>
          </a:p>
        </p:txBody>
      </p:sp>
      <p:sp>
        <p:nvSpPr>
          <p:cNvPr id="16" name="Заголовок 2">
            <a:extLst>
              <a:ext uri="{FF2B5EF4-FFF2-40B4-BE49-F238E27FC236}">
                <a16:creationId xmlns:a16="http://schemas.microsoft.com/office/drawing/2014/main" id="{FCCBCC13-29D6-5C1F-B9F5-78716A1A451C}"/>
              </a:ext>
            </a:extLst>
          </p:cNvPr>
          <p:cNvSpPr txBox="1">
            <a:spLocks/>
          </p:cNvSpPr>
          <p:nvPr/>
        </p:nvSpPr>
        <p:spPr>
          <a:xfrm>
            <a:off x="576651" y="1440836"/>
            <a:ext cx="5245560" cy="777025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dirty="0">
                <a:solidFill>
                  <a:srgbClr val="102D69"/>
                </a:solidFill>
              </a:rPr>
              <a:t>Сравнение результатов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251597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ABE1F6DB-2C79-0F40-985F-DB8180BAFB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Магистратура</a:t>
            </a:r>
          </a:p>
          <a:p>
            <a:r>
              <a:rPr lang="ru-RU" dirty="0"/>
              <a:t>«Искусственный интеллект»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CC9B4C-151F-204A-9B26-BE1838EFB2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ru-RU" dirty="0"/>
              <a:t>Планирование работы фрезерных станков с использованием ИИ</a:t>
            </a:r>
          </a:p>
          <a:p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3CD81CA-2715-AB4B-A575-27FBCE550D2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Экономический эффект</a:t>
            </a:r>
          </a:p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59A9C6-69C4-5447-8A46-A98387532C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5897" y="2379663"/>
            <a:ext cx="7824677" cy="2399371"/>
          </a:xfrm>
        </p:spPr>
        <p:txBody>
          <a:bodyPr>
            <a:normAutofit/>
          </a:bodyPr>
          <a:lstStyle/>
          <a:p>
            <a:r>
              <a:rPr lang="ru-RU" sz="1800" dirty="0"/>
              <a:t>Рост производительности подразделения: 5–10%</a:t>
            </a:r>
            <a:br>
              <a:rPr lang="ru-RU" sz="1800" dirty="0"/>
            </a:br>
            <a:endParaRPr lang="ru-RU" sz="1800" dirty="0"/>
          </a:p>
          <a:p>
            <a:r>
              <a:rPr lang="ru-RU" sz="1800" dirty="0"/>
              <a:t>Оптимизация загрузки оборудования, как следствие отсутствие простоев</a:t>
            </a:r>
            <a:br>
              <a:rPr lang="ru-RU" sz="1800" dirty="0"/>
            </a:br>
            <a:br>
              <a:rPr lang="ru-RU" sz="1800" dirty="0"/>
            </a:br>
            <a:r>
              <a:rPr lang="ru-RU" sz="1800" dirty="0"/>
              <a:t>Методология подготовки и обработки файлов с дизайнами</a:t>
            </a:r>
            <a:br>
              <a:rPr lang="ru-RU" sz="1800" dirty="0"/>
            </a:br>
            <a:br>
              <a:rPr lang="ru-RU" sz="1800" dirty="0"/>
            </a:br>
            <a:r>
              <a:rPr lang="ru-RU" sz="1800" dirty="0"/>
              <a:t>Система рассчитывающая сложность выполнения работы с привязкой к цене</a:t>
            </a:r>
          </a:p>
        </p:txBody>
      </p:sp>
      <p:sp>
        <p:nvSpPr>
          <p:cNvPr id="8" name="Заголовок 2">
            <a:extLst>
              <a:ext uri="{FF2B5EF4-FFF2-40B4-BE49-F238E27FC236}">
                <a16:creationId xmlns:a16="http://schemas.microsoft.com/office/drawing/2014/main" id="{213E8214-D4D9-F83C-A9C6-493B1A5C5A9F}"/>
              </a:ext>
            </a:extLst>
          </p:cNvPr>
          <p:cNvSpPr txBox="1">
            <a:spLocks/>
          </p:cNvSpPr>
          <p:nvPr/>
        </p:nvSpPr>
        <p:spPr>
          <a:xfrm>
            <a:off x="585898" y="1478813"/>
            <a:ext cx="5245560" cy="777025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dirty="0">
                <a:solidFill>
                  <a:srgbClr val="102D69"/>
                </a:solidFill>
              </a:rPr>
              <a:t>Экономический эффект</a:t>
            </a:r>
            <a:br>
              <a:rPr lang="ru-RU" dirty="0">
                <a:solidFill>
                  <a:srgbClr val="102D69"/>
                </a:solidFill>
              </a:rPr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58080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7AC8064E-5791-204C-B92F-A0182794943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Магистратура</a:t>
            </a:r>
          </a:p>
          <a:p>
            <a:r>
              <a:rPr lang="ru-RU" dirty="0"/>
              <a:t>«Искусственный интеллект»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5A111DD-C00C-2D48-9F7A-4E23C5BA0C6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ru-RU" dirty="0"/>
              <a:t>Планирование работы фрезерных станков с использованием ИИ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7B3E517-ED8B-0241-AB87-BE49B315EEB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6DA8C9-3BB0-531D-4BAA-D28E8DFB0D97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Выводы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2449C7-481F-A47D-FC18-4726A69B8E68}"/>
              </a:ext>
            </a:extLst>
          </p:cNvPr>
          <p:cNvSpPr txBox="1"/>
          <p:nvPr/>
        </p:nvSpPr>
        <p:spPr>
          <a:xfrm>
            <a:off x="585897" y="2704251"/>
            <a:ext cx="1047262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102D69"/>
                </a:solidFill>
              </a:rPr>
              <a:t>Разработан мультимодальный комплекс, снижающий неопределенность планирования.</a:t>
            </a:r>
          </a:p>
          <a:p>
            <a:endParaRPr lang="ru-RU" dirty="0">
              <a:solidFill>
                <a:srgbClr val="102D69"/>
              </a:solidFill>
            </a:endParaRPr>
          </a:p>
          <a:p>
            <a:r>
              <a:rPr lang="ru-RU" dirty="0">
                <a:solidFill>
                  <a:srgbClr val="102D69"/>
                </a:solidFill>
              </a:rPr>
              <a:t>Научная новизна подтверждена учетом реальной данных процесса через визуальный анализ.</a:t>
            </a:r>
          </a:p>
          <a:p>
            <a:endParaRPr lang="ru-RU" dirty="0">
              <a:solidFill>
                <a:srgbClr val="102D69"/>
              </a:solidFill>
            </a:endParaRPr>
          </a:p>
          <a:p>
            <a:r>
              <a:rPr lang="ru-RU" dirty="0">
                <a:solidFill>
                  <a:srgbClr val="102D69"/>
                </a:solidFill>
              </a:rPr>
              <a:t>Положена основа к разработке методологии к обработке и хранению данных</a:t>
            </a:r>
          </a:p>
          <a:p>
            <a:endParaRPr lang="ru-RU" dirty="0">
              <a:solidFill>
                <a:srgbClr val="102D69"/>
              </a:solidFill>
            </a:endParaRPr>
          </a:p>
          <a:p>
            <a:r>
              <a:rPr lang="ru-RU" dirty="0">
                <a:solidFill>
                  <a:srgbClr val="102D69"/>
                </a:solidFill>
              </a:rPr>
              <a:t>Система готова к масштабированию и может использоваться в промышленной эксплуатации</a:t>
            </a:r>
          </a:p>
        </p:txBody>
      </p:sp>
    </p:spTree>
    <p:extLst>
      <p:ext uri="{BB962C8B-B14F-4D97-AF65-F5344CB8AC3E}">
        <p14:creationId xmlns:p14="http://schemas.microsoft.com/office/powerpoint/2010/main" val="35766639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7AC8064E-5791-204C-B92F-A0182794943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ru-RU" dirty="0"/>
              <a:t>Магистратура</a:t>
            </a:r>
          </a:p>
          <a:p>
            <a:r>
              <a:rPr lang="ru-RU" dirty="0"/>
              <a:t>«Искусственный интеллект»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5A111DD-C00C-2D48-9F7A-4E23C5BA0C6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ru-RU" dirty="0"/>
              <a:t>Планирование работы фрезерных станков с использованием ИИ</a:t>
            </a:r>
          </a:p>
          <a:p>
            <a:endParaRPr lang="ru-RU" dirty="0"/>
          </a:p>
          <a:p>
            <a:endParaRPr lang="ru-RU" dirty="0"/>
          </a:p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8B687-BEA0-9194-E7C0-E7DB28F1FC51}"/>
              </a:ext>
            </a:extLst>
          </p:cNvPr>
          <p:cNvSpPr txBox="1"/>
          <p:nvPr/>
        </p:nvSpPr>
        <p:spPr>
          <a:xfrm>
            <a:off x="585897" y="2704251"/>
            <a:ext cx="104726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102D69"/>
                </a:solidFill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211030322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24234</TotalTime>
  <Words>1026</Words>
  <Application>Microsoft Office PowerPoint</Application>
  <PresentationFormat>Широкоэкранный</PresentationFormat>
  <Paragraphs>242</Paragraphs>
  <Slides>19</Slides>
  <Notes>1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5" baseType="lpstr">
      <vt:lpstr>-apple-system</vt:lpstr>
      <vt:lpstr>Arial</vt:lpstr>
      <vt:lpstr>Calibri</vt:lpstr>
      <vt:lpstr>Calibri Light</vt:lpstr>
      <vt:lpstr>HSE Sans</vt:lpstr>
      <vt:lpstr>Тема Office</vt:lpstr>
      <vt:lpstr>Планирование работы фрезерных станков с использованием ИИ </vt:lpstr>
      <vt:lpstr>Характер задачи</vt:lpstr>
      <vt:lpstr>О проекте </vt:lpstr>
      <vt:lpstr>Экспериментальное подтверждение </vt:lpstr>
      <vt:lpstr>Поставленные задачи </vt:lpstr>
      <vt:lpstr>Источники данные</vt:lpstr>
      <vt:lpstr>Инженерия признаков</vt:lpstr>
      <vt:lpstr>Выявление аномалий</vt:lpstr>
      <vt:lpstr>Метрики качества прогнозирования</vt:lpstr>
      <vt:lpstr>Структура проекта</vt:lpstr>
      <vt:lpstr>Двухконтурная модель</vt:lpstr>
      <vt:lpstr>Презентация PowerPoint</vt:lpstr>
      <vt:lpstr>Улучшенная архитектура на базе Qwen</vt:lpstr>
      <vt:lpstr>Улучшенная архитектура на базе Qwen + Qwen + Lora + Prompt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Барабанова Мария Сергеевна</dc:creator>
  <cp:lastModifiedBy>Vladimir Datsiuk</cp:lastModifiedBy>
  <cp:revision>49</cp:revision>
  <dcterms:created xsi:type="dcterms:W3CDTF">2021-12-23T09:05:15Z</dcterms:created>
  <dcterms:modified xsi:type="dcterms:W3CDTF">2026-05-05T11:06:47Z</dcterms:modified>
</cp:coreProperties>
</file>