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05" r:id="rId2"/>
    <p:sldId id="321" r:id="rId3"/>
    <p:sldId id="309" r:id="rId4"/>
    <p:sldId id="320" r:id="rId5"/>
    <p:sldId id="272" r:id="rId6"/>
    <p:sldId id="310" r:id="rId7"/>
    <p:sldId id="275" r:id="rId8"/>
    <p:sldId id="277" r:id="rId9"/>
    <p:sldId id="312" r:id="rId10"/>
    <p:sldId id="307" r:id="rId11"/>
    <p:sldId id="311" r:id="rId12"/>
    <p:sldId id="280" r:id="rId13"/>
    <p:sldId id="314" r:id="rId14"/>
    <p:sldId id="319" r:id="rId15"/>
    <p:sldId id="315" r:id="rId16"/>
    <p:sldId id="322" r:id="rId17"/>
    <p:sldId id="278" r:id="rId18"/>
    <p:sldId id="316" r:id="rId19"/>
    <p:sldId id="284" r:id="rId20"/>
    <p:sldId id="318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1E3C"/>
    <a:srgbClr val="0F2D69"/>
    <a:srgbClr val="234B9B"/>
    <a:srgbClr val="F5C3C3"/>
    <a:srgbClr val="CD5A5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5209" autoAdjust="0"/>
  </p:normalViewPr>
  <p:slideViewPr>
    <p:cSldViewPr snapToGrid="0">
      <p:cViewPr varScale="1">
        <p:scale>
          <a:sx n="106" d="100"/>
          <a:sy n="106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Вклад признаков, %</a:t>
            </a:r>
            <a:endParaRPr lang="en-GB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c:rich>
      </c:tx>
      <c:layout>
        <c:manualLayout>
          <c:xMode val="edge"/>
          <c:yMode val="edge"/>
          <c:x val="0.33601000111952839"/>
          <c:y val="2.07993705815667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0.44058710935244771"/>
          <c:y val="0.10958869184472636"/>
          <c:w val="0.48580252341553753"/>
          <c:h val="0.735136634267554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 признаков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Номеклатурная группа</c:v>
                </c:pt>
                <c:pt idx="1">
                  <c:v>Плотность наполнения</c:v>
                </c:pt>
                <c:pt idx="2">
                  <c:v>Проект</c:v>
                </c:pt>
                <c:pt idx="3">
                  <c:v>Материал</c:v>
                </c:pt>
                <c:pt idx="4">
                  <c:v>Сложность выполнения</c:v>
                </c:pt>
                <c:pt idx="5">
                  <c:v>Материал</c:v>
                </c:pt>
                <c:pt idx="6">
                  <c:v>Плотность_объем</c:v>
                </c:pt>
                <c:pt idx="7">
                  <c:v>Операция НТК</c:v>
                </c:pt>
                <c:pt idx="8">
                  <c:v>Площадь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11</c:v>
                </c:pt>
                <c:pt idx="5">
                  <c:v>12</c:v>
                </c:pt>
                <c:pt idx="6">
                  <c:v>15</c:v>
                </c:pt>
                <c:pt idx="7">
                  <c:v>16</c:v>
                </c:pt>
                <c:pt idx="8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C-424A-8DB9-1AC3AD043D9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55724448"/>
        <c:axId val="955630256"/>
      </c:barChart>
      <c:catAx>
        <c:axId val="95572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  <c:crossAx val="955630256"/>
        <c:crosses val="autoZero"/>
        <c:auto val="1"/>
        <c:lblAlgn val="ctr"/>
        <c:lblOffset val="100"/>
        <c:noMultiLvlLbl val="0"/>
      </c:catAx>
      <c:valAx>
        <c:axId val="95563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5572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Важность</a:t>
            </a:r>
            <a:r>
              <a:rPr lang="ru-RU" sz="1600" baseline="0" dirty="0">
                <a:solidFill>
                  <a:srgbClr val="102D69"/>
                </a:solidFill>
                <a:latin typeface="HSE Sans" panose="02000000000000000000" pitchFamily="2" charset="0"/>
              </a:rPr>
              <a:t> по типам признаков, %</a:t>
            </a:r>
            <a:endParaRPr lang="en-GB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c:rich>
      </c:tx>
      <c:layout>
        <c:manualLayout>
          <c:xMode val="edge"/>
          <c:yMode val="edge"/>
          <c:x val="0.10953733191685275"/>
          <c:y val="7.913662981921240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0.44058712911782133"/>
          <c:y val="0.2060525271399084"/>
          <c:w val="0.52124080807179551"/>
          <c:h val="0.724028384631890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 по типам признаков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1416281888276737E-2"/>
                      <c:h val="7.563857365347835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9A6A-4A2E-9EC8-5504DC3DF10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E9627CF-26BC-4DB0-AAEC-E08F22B03076}" type="VALUE">
                      <a:rPr lang="en-US" smtClean="0"/>
                      <a:pPr/>
                      <a:t>[ЗНАЧЕНИЕ]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A6A-4A2E-9EC8-5504DC3DF10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C35ED29-847A-4319-A417-05D7771F54F3}" type="VALUE">
                      <a:rPr lang="en-US" smtClean="0"/>
                      <a:pPr/>
                      <a:t>[ЗНАЧЕНИЕ]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A6A-4A2E-9EC8-5504DC3DF1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Категориальные</c:v>
                </c:pt>
                <c:pt idx="1">
                  <c:v>Сгенерированные</c:v>
                </c:pt>
                <c:pt idx="2">
                  <c:v>Числовые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25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1F-43B7-8436-A93AAC6115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55724448"/>
        <c:axId val="955630256"/>
      </c:barChart>
      <c:catAx>
        <c:axId val="95572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  <c:crossAx val="955630256"/>
        <c:crosses val="autoZero"/>
        <c:auto val="1"/>
        <c:lblAlgn val="ctr"/>
        <c:lblOffset val="100"/>
        <c:noMultiLvlLbl val="0"/>
      </c:catAx>
      <c:valAx>
        <c:axId val="95563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5572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RU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Sheet1!$A$2:$A$8</cx:f>
        <cx:lvl ptCount="7">
          <cx:pt idx="0">Валидные данные</cx:pt>
          <cx:pt idx="1">Выбросы</cx:pt>
          <cx:pt idx="2">Сбои</cx:pt>
          <cx:pt idx="3">Ошибки</cx:pt>
          <cx:pt idx="4">Остановки</cx:pt>
          <cx:pt idx="5">Корректировки</cx:pt>
          <cx:pt idx="6">Брак</cx:pt>
        </cx:lvl>
      </cx:strDim>
      <cx:numDim type="size">
        <cx:f>Sheet1!$B$2:$B$8</cx:f>
        <cx:lvl ptCount="7" formatCode="General">
          <cx:pt idx="0">66</cx:pt>
          <cx:pt idx="1">3</cx:pt>
          <cx:pt idx="2">5</cx:pt>
          <cx:pt idx="3">2.7999999999999998</cx:pt>
          <cx:pt idx="4">5.4000000000000004</cx:pt>
          <cx:pt idx="5">2.6000000000000001</cx:pt>
          <cx:pt idx="6">1.8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</a:rPr>
              <a:t>Анализ аномалий</a:t>
            </a:r>
            <a:endParaRPr lang="en-RU" sz="1600" dirty="0">
              <a:effectLst/>
            </a:endParaRPr>
          </a:p>
        </cx:rich>
      </cx:tx>
    </cx:title>
    <cx:plotArea>
      <cx:plotAreaRegion>
        <cx:series layoutId="sunburst" uniqueId="{7396FA94-DC10-4DBF-A898-46B13C768361}">
          <cx:tx>
            <cx:txData>
              <cx:f>Sheet1!$B$1</cx:f>
              <cx:v>Sales</cx:v>
            </cx:txData>
          </cx:tx>
          <cx:dataId val="0"/>
        </cx:series>
      </cx:plotAreaRegion>
    </cx:plotArea>
    <cx:legend pos="b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4D81D-654F-48DB-A33D-3E6F325A1010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93330-6B9A-4C0D-8499-7E41F0768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75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984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0BFE41-87B8-E0C5-9BCA-378423F997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3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8536C4-3B79-8FF0-64F7-D7F85560AD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6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F976F2-5913-92C7-B207-70AEB751D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2680" y="134899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2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9AE18B-9CD1-6ACF-B8BF-D5A1940B95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2681" y="136491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0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38B0A2-06C9-471A-1ED6-E1E435B951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2681" y="134899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3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02B17A-82FC-4B7D-A137-C083794641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2680" y="134899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5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416E00-203E-91CE-7100-6098C8AE8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2680" y="134899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2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A9EE3D-CE66-2E25-C53C-F81BB2992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2680" y="134899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101049-909A-ABCB-FE26-62A753341C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184" y="253682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55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C048D9-E87E-7C55-3191-19C74B2809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2681" y="134899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9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6A5804-6C85-F104-3088-1F4FDC0EB0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2681" y="134899"/>
            <a:ext cx="11525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58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4041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533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791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22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1849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22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39BA1-5047-414E-8A3F-E19F7F2DED6E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3F6F1-63BF-4504-A93A-2FA8850D4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40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536" y="2404670"/>
            <a:ext cx="7754112" cy="2633674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Планирование работы фрезерных станков с использованием ИИ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3AD4D-2340-570C-F060-F7B93F8D70B2}"/>
              </a:ext>
            </a:extLst>
          </p:cNvPr>
          <p:cNvSpPr txBox="1"/>
          <p:nvPr/>
        </p:nvSpPr>
        <p:spPr>
          <a:xfrm>
            <a:off x="8274353" y="4173142"/>
            <a:ext cx="35440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-apple-system"/>
              </a:rPr>
              <a:t>Научный руководитель</a:t>
            </a:r>
            <a:br>
              <a:rPr lang="ru-RU" b="1" dirty="0">
                <a:solidFill>
                  <a:srgbClr val="002060"/>
                </a:solidFill>
                <a:latin typeface="-apple-system"/>
              </a:rPr>
            </a:br>
            <a:r>
              <a:rPr lang="ru-RU" sz="1600" b="1" dirty="0">
                <a:solidFill>
                  <a:srgbClr val="002060"/>
                </a:solidFill>
                <a:latin typeface="-apple-system"/>
              </a:rPr>
              <a:t>Старший разработчик</a:t>
            </a:r>
          </a:p>
          <a:p>
            <a:r>
              <a:rPr lang="ru-RU" sz="1600" b="1" dirty="0">
                <a:solidFill>
                  <a:srgbClr val="002060"/>
                </a:solidFill>
                <a:latin typeface="-apple-system"/>
              </a:rPr>
              <a:t>кандидат ф.-м. наук</a:t>
            </a:r>
            <a:br>
              <a:rPr lang="ru-RU" b="1" dirty="0">
                <a:solidFill>
                  <a:srgbClr val="002060"/>
                </a:solidFill>
                <a:latin typeface="-apple-system"/>
              </a:rPr>
            </a:br>
            <a:r>
              <a:rPr lang="ru-RU" dirty="0">
                <a:solidFill>
                  <a:srgbClr val="002060"/>
                </a:solidFill>
                <a:latin typeface="-apple-system"/>
              </a:rPr>
              <a:t> Илья Вячеславович Скворцов</a:t>
            </a:r>
          </a:p>
          <a:p>
            <a:r>
              <a:rPr lang="ru-RU" b="1" dirty="0">
                <a:solidFill>
                  <a:srgbClr val="002060"/>
                </a:solidFill>
                <a:latin typeface="-apple-system"/>
              </a:rPr>
              <a:t>Студент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-apple-system"/>
              </a:rPr>
              <a:t> </a:t>
            </a:r>
            <a:r>
              <a:rPr lang="ru-RU" dirty="0">
                <a:solidFill>
                  <a:srgbClr val="002060"/>
                </a:solidFill>
                <a:latin typeface="-apple-system"/>
              </a:rPr>
              <a:t>Владимир Юрьевич Дацюк</a:t>
            </a:r>
          </a:p>
          <a:p>
            <a:endParaRPr lang="ru-RU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Текст 1">
            <a:extLst>
              <a:ext uri="{FF2B5EF4-FFF2-40B4-BE49-F238E27FC236}">
                <a16:creationId xmlns:a16="http://schemas.microsoft.com/office/drawing/2014/main" id="{A59E7986-EB04-16BD-D403-00812F4FDD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66950" y="1173829"/>
            <a:ext cx="3665631" cy="46318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Факультет</a:t>
            </a:r>
          </a:p>
          <a:p>
            <a:r>
              <a:rPr lang="ru-RU" dirty="0"/>
              <a:t>Компьютерных наук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5B18-B9DB-05EC-0514-E86F0451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7849F57-5D84-933E-2E46-00642893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Характер задачи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F451AC-2FE3-3127-3E8D-7EF15DEB56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245561" cy="3405501"/>
          </a:xfrm>
        </p:spPr>
        <p:txBody>
          <a:bodyPr>
            <a:noAutofit/>
          </a:bodyPr>
          <a:lstStyle/>
          <a:p>
            <a:pPr>
              <a:spcBef>
                <a:spcPts val="1300"/>
              </a:spcBef>
            </a:pPr>
            <a:endParaRPr lang="ru-RU" sz="1200" b="1" dirty="0"/>
          </a:p>
          <a:p>
            <a:pPr>
              <a:spcBef>
                <a:spcPts val="1300"/>
              </a:spcBef>
            </a:pPr>
            <a:r>
              <a:rPr lang="ru-RU" sz="1200" b="1" dirty="0"/>
              <a:t>Объект</a:t>
            </a:r>
            <a:r>
              <a:rPr lang="ru-RU" sz="1200" dirty="0"/>
              <a:t>: Процесс механической обработки на станках с ЧПУ</a:t>
            </a:r>
            <a:endParaRPr lang="en-US" sz="1200" dirty="0"/>
          </a:p>
          <a:p>
            <a:pPr>
              <a:spcBef>
                <a:spcPts val="1300"/>
              </a:spcBef>
            </a:pPr>
            <a:r>
              <a:rPr lang="ru-RU" sz="1200" b="1" dirty="0"/>
              <a:t>Сложность и данные</a:t>
            </a:r>
            <a:r>
              <a:rPr lang="ru-RU" sz="1200" dirty="0"/>
              <a:t>: </a:t>
            </a:r>
          </a:p>
          <a:p>
            <a:pPr>
              <a:spcBef>
                <a:spcPts val="1300"/>
              </a:spcBef>
            </a:pPr>
            <a:r>
              <a:rPr lang="ru-RU" sz="1200" dirty="0"/>
              <a:t>	нелинейная зависимость </a:t>
            </a:r>
          </a:p>
          <a:p>
            <a:pPr>
              <a:spcBef>
                <a:spcPts val="1300"/>
              </a:spcBef>
            </a:pPr>
            <a:r>
              <a:rPr lang="ru-RU" sz="1200" dirty="0"/>
              <a:t>	геометрический фактор</a:t>
            </a:r>
          </a:p>
          <a:p>
            <a:pPr>
              <a:spcBef>
                <a:spcPts val="1300"/>
              </a:spcBef>
            </a:pPr>
            <a:r>
              <a:rPr lang="ru-RU" sz="1200" dirty="0"/>
              <a:t>	разнородные данные</a:t>
            </a:r>
          </a:p>
          <a:p>
            <a:pPr>
              <a:spcBef>
                <a:spcPts val="1300"/>
              </a:spcBef>
            </a:pPr>
            <a:r>
              <a:rPr lang="ru-RU" sz="1200" b="1" dirty="0"/>
              <a:t>Статистические модели:</a:t>
            </a:r>
          </a:p>
          <a:p>
            <a:pPr>
              <a:spcBef>
                <a:spcPts val="1300"/>
              </a:spcBef>
            </a:pPr>
            <a:r>
              <a:rPr lang="ru-RU" sz="1200" dirty="0"/>
              <a:t>Используют агрегированные признаки (длина, объем), полностью игнорируя локальную геометрию и визуальные паттерны сложности.</a:t>
            </a:r>
            <a:br>
              <a:rPr lang="ru-RU" sz="1200" dirty="0"/>
            </a:br>
            <a:endParaRPr lang="ru-RU" sz="12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CDC857B-E0ED-3790-C3AC-C28AD5CFF3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2E2973C-30CE-F4DA-B168-C8A1B28931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A4876584-322E-420D-8CC2-517CE98C02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О проекте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2B4FB3-5D04-E2F7-539F-82F49ED3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302" y="1566862"/>
            <a:ext cx="44958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5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О проекте</a:t>
            </a:r>
            <a:br>
              <a:rPr lang="ru-RU" dirty="0">
                <a:solidFill>
                  <a:srgbClr val="102D69"/>
                </a:solidFill>
              </a:rPr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245561" cy="3342127"/>
          </a:xfrm>
        </p:spPr>
        <p:txBody>
          <a:bodyPr>
            <a:normAutofit/>
          </a:bodyPr>
          <a:lstStyle/>
          <a:p>
            <a:pPr>
              <a:spcBef>
                <a:spcPts val="1300"/>
              </a:spcBef>
            </a:pPr>
            <a:endParaRPr lang="ru-RU" b="1" dirty="0"/>
          </a:p>
          <a:p>
            <a:pPr>
              <a:spcBef>
                <a:spcPts val="1300"/>
              </a:spcBef>
            </a:pPr>
            <a:r>
              <a:rPr lang="ru-RU" b="1" dirty="0"/>
              <a:t>Проблематика</a:t>
            </a:r>
            <a:r>
              <a:rPr lang="ru-RU" dirty="0"/>
              <a:t>: Расхождение между расчетным временем в CAM-системах и фактическим достигает 25–40%.</a:t>
            </a:r>
          </a:p>
          <a:p>
            <a:pPr>
              <a:spcBef>
                <a:spcPts val="1300"/>
              </a:spcBef>
            </a:pPr>
            <a:r>
              <a:rPr lang="ru-RU" dirty="0"/>
              <a:t>«</a:t>
            </a:r>
            <a:r>
              <a:rPr lang="ru-RU" b="1" dirty="0"/>
              <a:t>Простая статистика</a:t>
            </a:r>
            <a:r>
              <a:rPr lang="ru-RU" dirty="0"/>
              <a:t>» (коэффициенты) не работает</a:t>
            </a:r>
            <a:br>
              <a:rPr lang="ru-RU" dirty="0"/>
            </a:br>
            <a:r>
              <a:rPr lang="ru-RU" sz="1000" i="1" dirty="0"/>
              <a:t>Ошибка коррелирует со сложностью</a:t>
            </a:r>
          </a:p>
          <a:p>
            <a:pPr>
              <a:spcBef>
                <a:spcPts val="1300"/>
              </a:spcBef>
            </a:pPr>
            <a:r>
              <a:rPr lang="ru-RU" b="1" dirty="0"/>
              <a:t>«Модели </a:t>
            </a:r>
            <a:r>
              <a:rPr lang="en-US" b="1" dirty="0"/>
              <a:t>CAM</a:t>
            </a:r>
            <a:r>
              <a:rPr lang="ru-RU" b="1" dirty="0"/>
              <a:t>»</a:t>
            </a:r>
            <a:r>
              <a:rPr lang="en-US" b="1" dirty="0"/>
              <a:t> - </a:t>
            </a:r>
            <a:r>
              <a:rPr lang="ru-RU" dirty="0"/>
              <a:t>основаны на идеализированных расчётах</a:t>
            </a:r>
            <a:br>
              <a:rPr lang="ru-RU" sz="1200" i="1" dirty="0"/>
            </a:b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О проекте</a:t>
            </a:r>
          </a:p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28DEE2-6AE8-22A3-BF30-D7106C13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91728"/>
            <a:ext cx="5510102" cy="279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77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4F6B-6376-F5BF-5DBD-ED858DE6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EA2C6AF-9037-416A-F290-4F400DE5B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Экспериментальное подтверждение</a:t>
            </a:r>
            <a:br>
              <a:rPr lang="ru-RU" dirty="0">
                <a:solidFill>
                  <a:srgbClr val="102D69"/>
                </a:solidFill>
              </a:rPr>
            </a:b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DCFAA5-F0C0-C4E8-2BF0-68A4EDA1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C06ED20-F945-0DC0-7068-D733561299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FA1B482-D805-0C44-6278-4D3FE28B56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Экспериментальное подтверждение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EA9D9E-91E7-1BCA-80FC-B4CF4D882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227" y="2190750"/>
            <a:ext cx="87153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71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Поставленные задачи</a:t>
            </a:r>
            <a:br>
              <a:rPr lang="ru-RU" dirty="0">
                <a:solidFill>
                  <a:srgbClr val="102D69"/>
                </a:solidFill>
              </a:rPr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8250285" cy="3393234"/>
          </a:xfrm>
        </p:spPr>
        <p:txBody>
          <a:bodyPr>
            <a:normAutofit/>
          </a:bodyPr>
          <a:lstStyle/>
          <a:p>
            <a:pPr>
              <a:spcBef>
                <a:spcPts val="1300"/>
              </a:spcBef>
            </a:pPr>
            <a:endParaRPr lang="en-US" sz="1600" dirty="0"/>
          </a:p>
          <a:p>
            <a:pPr>
              <a:spcBef>
                <a:spcPts val="1300"/>
              </a:spcBef>
            </a:pPr>
            <a:r>
              <a:rPr lang="ru-RU" sz="1600" dirty="0"/>
              <a:t>Сбор и анализ управленческих данных из «1С:Предприятие 8.3».</a:t>
            </a:r>
          </a:p>
          <a:p>
            <a:pPr>
              <a:spcBef>
                <a:spcPts val="1300"/>
              </a:spcBef>
            </a:pPr>
            <a:r>
              <a:rPr lang="ru-RU" sz="1600" dirty="0"/>
              <a:t>Интеллектуальная очистка визуального и табличного датасетов.</a:t>
            </a:r>
          </a:p>
          <a:p>
            <a:pPr>
              <a:spcBef>
                <a:spcPts val="1300"/>
              </a:spcBef>
            </a:pPr>
            <a:r>
              <a:rPr lang="ru-RU" sz="1600" dirty="0"/>
              <a:t>Построение мультимодальной предиктивной модели</a:t>
            </a:r>
          </a:p>
          <a:p>
            <a:pPr>
              <a:spcBef>
                <a:spcPts val="1300"/>
              </a:spcBef>
            </a:pPr>
            <a:r>
              <a:rPr lang="ru-RU" sz="1600" dirty="0"/>
              <a:t>Экспериментальная апробация и оценка экономического эффекта.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Поставленные задачи</a:t>
            </a:r>
            <a:br>
              <a:rPr lang="ru-RU" dirty="0">
                <a:solidFill>
                  <a:srgbClr val="102D69"/>
                </a:solidFill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BE47-F356-81EC-C6ED-2B4D15DB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7DBBAF8-F843-3CB2-0E8D-6A8F52EF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Источники данные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AA3DD5-A1A3-C6BC-B97A-DAC01B71B0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ru-RU" dirty="0"/>
              <a:t>Данные управленческой системы (1С Конфигурация УНФ)</a:t>
            </a:r>
          </a:p>
          <a:p>
            <a:pPr marL="285750" indent="-285750"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ru-RU" dirty="0"/>
              <a:t>Данные работы станов с ЧПУ (</a:t>
            </a:r>
            <a:r>
              <a:rPr lang="en-US" dirty="0"/>
              <a:t>Datron, </a:t>
            </a:r>
            <a:r>
              <a:rPr lang="ru-RU" dirty="0"/>
              <a:t>Рух-сервопривод)</a:t>
            </a:r>
          </a:p>
          <a:p>
            <a:pPr marL="285750" indent="-285750"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ru-RU" dirty="0"/>
              <a:t>Графические изображения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97A47FF-B23F-DC58-AC88-9A7269D803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34003C-75CF-6404-EE80-2025F1D426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BD9F419-5925-9C07-C8DD-88AC0037E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Данные: Источники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2701C93-E390-C587-37AF-EBE67FD4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96976"/>
            <a:ext cx="2827374" cy="145567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02AF6C2-52FB-7571-CE17-31C57DEE6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270" y="1402911"/>
            <a:ext cx="399956" cy="34129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2184489-0692-5B48-C820-10E60389A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757" y="3310356"/>
            <a:ext cx="2570862" cy="39121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1B80D5E-9F36-D70E-3E3A-6361B7E89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610" y="3298950"/>
            <a:ext cx="399956" cy="40262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3FF89DD-C7C4-2115-DBB7-ACCD737A9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7538660" y="4566199"/>
            <a:ext cx="1713981" cy="107298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D7F84F2-8C86-8D69-FA67-69179C7B48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566199"/>
            <a:ext cx="1373109" cy="117492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BEB25E2-31EE-918E-F93D-A2B6077EC0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8653" y="3705065"/>
            <a:ext cx="819617" cy="45078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4104D1A7-02AA-D5AD-4ABD-7DA6E33F2F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3703408"/>
            <a:ext cx="1026106" cy="42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0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686AF3F-C863-864E-AFDC-D574F8060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A1EC68-7619-8F49-AEC3-176ECF1F6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23B065-0902-0141-A245-63D5DCF43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Данные: Инженерия признаков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72CBB7-AE1B-9D40-A298-6BDF023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102D69"/>
                </a:solidFill>
              </a:rPr>
              <a:t>Инженерия признаков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7F297E4-9695-684A-A8A3-54FEC94600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9" y="2379663"/>
            <a:ext cx="3934344" cy="37925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Нормативно-технологические данные: </a:t>
            </a:r>
            <a:r>
              <a:rPr lang="ru-RU" dirty="0"/>
              <a:t>тип операции обработки, допуски, вид материала, наименование оборудования, коэффициенты для обработки, вид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Геометрический данные:</a:t>
            </a:r>
            <a:r>
              <a:rPr lang="ru-RU" dirty="0"/>
              <a:t> площадь обработки, объем материала, длина траектории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Сгенерированные показатели: </a:t>
            </a:r>
            <a:r>
              <a:rPr lang="ru-RU" dirty="0"/>
              <a:t>Удельная сложность, нагрузка на инструмент, компактности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Подбор признаков: </a:t>
            </a:r>
            <a:r>
              <a:rPr lang="ru-RU" dirty="0"/>
              <a:t>многоэтапный итерационный процесс: от базовых моделей к оптимизированным ансамблям с применением «робастной» обработки выбросов и подбором </a:t>
            </a:r>
            <a:r>
              <a:rPr lang="ru-RU" dirty="0" err="1"/>
              <a:t>гиперпараметров</a:t>
            </a:r>
            <a:r>
              <a:rPr lang="ru-RU" dirty="0"/>
              <a:t> методом случайного поиска.</a:t>
            </a:r>
          </a:p>
        </p:txBody>
      </p:sp>
      <p:graphicFrame>
        <p:nvGraphicFramePr>
          <p:cNvPr id="16" name="Chart 1">
            <a:extLst>
              <a:ext uri="{FF2B5EF4-FFF2-40B4-BE49-F238E27FC236}">
                <a16:creationId xmlns:a16="http://schemas.microsoft.com/office/drawing/2014/main" id="{7B6906F8-D4AC-BAFD-49CF-D67D4996B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541173"/>
              </p:ext>
            </p:extLst>
          </p:nvPr>
        </p:nvGraphicFramePr>
        <p:xfrm>
          <a:off x="7972424" y="2224815"/>
          <a:ext cx="4000501" cy="3097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">
            <a:extLst>
              <a:ext uri="{FF2B5EF4-FFF2-40B4-BE49-F238E27FC236}">
                <a16:creationId xmlns:a16="http://schemas.microsoft.com/office/drawing/2014/main" id="{B754EAF9-1467-F5EA-2FCD-DCB331A364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74029"/>
              </p:ext>
            </p:extLst>
          </p:nvPr>
        </p:nvGraphicFramePr>
        <p:xfrm>
          <a:off x="4324350" y="2224815"/>
          <a:ext cx="3733799" cy="2956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115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Исследовательский анализ данных: Выявление аномалий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6248A15-8E7E-BC4A-A1F2-4446573B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Выявление аномалий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59A9C6-69C4-5447-8A46-A98387532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881577" cy="294481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Влияние человеческого фактора на скорость обработки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Ошибки операторов станков с ЧПУ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Дополнительные проверки и технологические операции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Контроль, и повторная обработка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Обнаружено: до 15% записей содержат аномалии (сбои, ошибки регистрации)</a:t>
            </a:r>
          </a:p>
          <a:p>
            <a:r>
              <a:rPr lang="ru-RU" dirty="0"/>
              <a:t>Дополнение управленческой системы необходимыми параметрами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2">
                <a:extLst>
                  <a:ext uri="{FF2B5EF4-FFF2-40B4-BE49-F238E27FC236}">
                    <a16:creationId xmlns:a16="http://schemas.microsoft.com/office/drawing/2014/main" id="{9B5DA202-1B8D-839C-AACF-FBDE3F5D151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77941327"/>
                  </p:ext>
                </p:extLst>
              </p:nvPr>
            </p:nvGraphicFramePr>
            <p:xfrm>
              <a:off x="5905499" y="1447791"/>
              <a:ext cx="5534025" cy="421006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2">
                <a:extLst>
                  <a:ext uri="{FF2B5EF4-FFF2-40B4-BE49-F238E27FC236}">
                    <a16:creationId xmlns:a16="http://schemas.microsoft.com/office/drawing/2014/main" id="{9B5DA202-1B8D-839C-AACF-FBDE3F5D15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5499" y="1447791"/>
                <a:ext cx="5534025" cy="4210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265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FC06-7A64-55A1-3B0B-FEB5ED8D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9DD8AF6-B98B-327E-7925-6EA6C6D2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Метрики качества прогнозирования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064901-7D03-5E64-A574-8A71173F8D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6519753" cy="1639887"/>
          </a:xfrm>
        </p:spPr>
        <p:txBody>
          <a:bodyPr/>
          <a:lstStyle/>
          <a:p>
            <a:pPr>
              <a:spcBef>
                <a:spcPts val="1300"/>
              </a:spcBef>
            </a:pPr>
            <a:r>
              <a:rPr lang="ru-RU" dirty="0"/>
              <a:t>R² (Коэффициент детерминации):</a:t>
            </a:r>
          </a:p>
          <a:p>
            <a:pPr>
              <a:spcBef>
                <a:spcPts val="1300"/>
              </a:spcBef>
            </a:pPr>
            <a:endParaRPr lang="ru-RU" dirty="0"/>
          </a:p>
          <a:p>
            <a:pPr>
              <a:spcBef>
                <a:spcPts val="1300"/>
              </a:spcBef>
            </a:pPr>
            <a:endParaRPr lang="ru-RU" dirty="0"/>
          </a:p>
          <a:p>
            <a:pPr>
              <a:spcBef>
                <a:spcPts val="1300"/>
              </a:spcBef>
            </a:pPr>
            <a:r>
              <a:rPr lang="ru-RU" dirty="0"/>
              <a:t>MAE (Средняя абсолютная ошибка): для диапазона данных от 1 до 30 часов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B687D6-80CD-70A3-2211-F92DA441C0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01E611-4AA4-2438-4487-BF5A918C96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8830B1C-83D5-CE15-989D-87E488DD6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Метрики качества прогнозирования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75E806-465C-7155-E1BC-25D09570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020" y="3066256"/>
            <a:ext cx="3401417" cy="110893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5694C97-CE58-F110-2150-C661A89DC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389" y="1825195"/>
            <a:ext cx="3263437" cy="1108935"/>
          </a:xfrm>
          <a:prstGeom prst="rect">
            <a:avLst/>
          </a:prstGeom>
        </p:spPr>
      </p:pic>
      <p:sp>
        <p:nvSpPr>
          <p:cNvPr id="12" name="Текст 3">
            <a:extLst>
              <a:ext uri="{FF2B5EF4-FFF2-40B4-BE49-F238E27FC236}">
                <a16:creationId xmlns:a16="http://schemas.microsoft.com/office/drawing/2014/main" id="{6AF725B0-1C56-91B1-C1BE-EEE2E1BE5198}"/>
              </a:ext>
            </a:extLst>
          </p:cNvPr>
          <p:cNvSpPr txBox="1">
            <a:spLocks/>
          </p:cNvSpPr>
          <p:nvPr/>
        </p:nvSpPr>
        <p:spPr>
          <a:xfrm>
            <a:off x="585897" y="4351338"/>
            <a:ext cx="6519753" cy="1373187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00"/>
              </a:spcBef>
            </a:pPr>
            <a:r>
              <a:rPr lang="ru-RU" sz="1000" dirty="0"/>
              <a:t>Долю вариации данных, которая модель смогла объяснить: от 0.6-0.2</a:t>
            </a:r>
            <a:endParaRPr lang="en-US" sz="1000" dirty="0"/>
          </a:p>
          <a:p>
            <a:pPr>
              <a:spcBef>
                <a:spcPts val="1300"/>
              </a:spcBef>
            </a:pPr>
            <a:r>
              <a:rPr lang="ru-RU" sz="1000" dirty="0"/>
              <a:t>Правило 10%</a:t>
            </a:r>
            <a:r>
              <a:rPr lang="en-US" sz="1000" dirty="0"/>
              <a:t> </a:t>
            </a:r>
            <a:r>
              <a:rPr lang="ru-RU" sz="1000" dirty="0"/>
              <a:t>для </a:t>
            </a:r>
            <a:r>
              <a:rPr lang="en-US" sz="1000" dirty="0"/>
              <a:t>MAE</a:t>
            </a:r>
          </a:p>
          <a:p>
            <a:pPr>
              <a:spcBef>
                <a:spcPts val="1300"/>
              </a:spcBef>
            </a:pPr>
            <a:endParaRPr lang="ru-RU" sz="1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1C4BF2-1E6D-20E8-611A-EDF152D3C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389" y="4351339"/>
            <a:ext cx="5724060" cy="150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49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4F2A-A0CF-4E31-99B3-BA5128B7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355C99E-9D0B-0A13-4737-F8B6A61D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Структура проекта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021B37-9A1F-D96B-F912-353ADA91DF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Bef>
                <a:spcPts val="1300"/>
              </a:spcBef>
            </a:pPr>
            <a:r>
              <a:rPr lang="ru-RU" dirty="0"/>
              <a:t>Теоретический обзор, постановка задачи и выбор стека</a:t>
            </a:r>
          </a:p>
          <a:p>
            <a:pPr>
              <a:spcBef>
                <a:spcPts val="1300"/>
              </a:spcBef>
            </a:pPr>
            <a:r>
              <a:rPr lang="ru-RU" dirty="0"/>
              <a:t>Программная реализация, инженерия признаков и дообучение модели. </a:t>
            </a:r>
          </a:p>
          <a:p>
            <a:pPr>
              <a:spcBef>
                <a:spcPts val="1300"/>
              </a:spcBef>
            </a:pPr>
            <a:r>
              <a:rPr lang="ru-RU" dirty="0"/>
              <a:t>Интеграция в производство и расчет экономического эффекта.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A0CDEC-931D-2AC4-E203-2B1C3F7703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84F9AE1-C81B-C710-E525-A4C368B8E5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6B44694-94B2-5AC2-8C52-DCFFCDC250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Структура проекта</a:t>
            </a:r>
          </a:p>
        </p:txBody>
      </p:sp>
      <p:sp>
        <p:nvSpPr>
          <p:cNvPr id="8" name="Блок-схема: альтернативный процесс 7">
            <a:extLst>
              <a:ext uri="{FF2B5EF4-FFF2-40B4-BE49-F238E27FC236}">
                <a16:creationId xmlns:a16="http://schemas.microsoft.com/office/drawing/2014/main" id="{64637B0D-AD05-B1C3-DBCB-80C0217F5680}"/>
              </a:ext>
            </a:extLst>
          </p:cNvPr>
          <p:cNvSpPr/>
          <p:nvPr/>
        </p:nvSpPr>
        <p:spPr>
          <a:xfrm>
            <a:off x="688064" y="3560317"/>
            <a:ext cx="1548142" cy="87818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Сбор данных</a:t>
            </a:r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B7BE3026-4F36-E24A-2BBC-08D3C93B5A87}"/>
              </a:ext>
            </a:extLst>
          </p:cNvPr>
          <p:cNvSpPr/>
          <p:nvPr/>
        </p:nvSpPr>
        <p:spPr>
          <a:xfrm>
            <a:off x="2388606" y="3560317"/>
            <a:ext cx="1548142" cy="87818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Обработка данных</a:t>
            </a:r>
          </a:p>
        </p:txBody>
      </p:sp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9CEFAE06-9625-9B95-218C-A9E098AC9A32}"/>
              </a:ext>
            </a:extLst>
          </p:cNvPr>
          <p:cNvSpPr/>
          <p:nvPr/>
        </p:nvSpPr>
        <p:spPr>
          <a:xfrm>
            <a:off x="4080756" y="3560317"/>
            <a:ext cx="1548142" cy="878186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Обучение на табличных данных</a:t>
            </a:r>
          </a:p>
        </p:txBody>
      </p:sp>
      <p:sp>
        <p:nvSpPr>
          <p:cNvPr id="11" name="Блок-схема: альтернативный процесс 10">
            <a:extLst>
              <a:ext uri="{FF2B5EF4-FFF2-40B4-BE49-F238E27FC236}">
                <a16:creationId xmlns:a16="http://schemas.microsoft.com/office/drawing/2014/main" id="{1C00F2FA-1E31-5364-30AE-067C4933FA21}"/>
              </a:ext>
            </a:extLst>
          </p:cNvPr>
          <p:cNvSpPr/>
          <p:nvPr/>
        </p:nvSpPr>
        <p:spPr>
          <a:xfrm>
            <a:off x="4080756" y="4707499"/>
            <a:ext cx="1548142" cy="878186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Мультимодальные модели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E4CE1AE-7608-C8A6-722A-D45A67FC8E9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236206" y="3999410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DD4190A-7B41-D398-2F72-C07EBFE5EA49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936748" y="3999410"/>
            <a:ext cx="144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304E65F-939A-4A38-94E1-53925B669D46}"/>
              </a:ext>
            </a:extLst>
          </p:cNvPr>
          <p:cNvCxnSpPr>
            <a:stCxn id="9" idx="2"/>
            <a:endCxn id="11" idx="1"/>
          </p:cNvCxnSpPr>
          <p:nvPr/>
        </p:nvCxnSpPr>
        <p:spPr>
          <a:xfrm>
            <a:off x="3162677" y="4438503"/>
            <a:ext cx="918079" cy="70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Блок-схема: альтернативный процесс 14">
            <a:extLst>
              <a:ext uri="{FF2B5EF4-FFF2-40B4-BE49-F238E27FC236}">
                <a16:creationId xmlns:a16="http://schemas.microsoft.com/office/drawing/2014/main" id="{313FC2F8-7D7D-59D6-956A-D6DF73BF8F98}"/>
              </a:ext>
            </a:extLst>
          </p:cNvPr>
          <p:cNvSpPr/>
          <p:nvPr/>
        </p:nvSpPr>
        <p:spPr>
          <a:xfrm>
            <a:off x="5791463" y="3560317"/>
            <a:ext cx="1548142" cy="878186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Прогнозирование</a:t>
            </a:r>
          </a:p>
        </p:txBody>
      </p:sp>
      <p:sp>
        <p:nvSpPr>
          <p:cNvPr id="16" name="Блок-схема: альтернативный процесс 15">
            <a:extLst>
              <a:ext uri="{FF2B5EF4-FFF2-40B4-BE49-F238E27FC236}">
                <a16:creationId xmlns:a16="http://schemas.microsoft.com/office/drawing/2014/main" id="{64C765A2-0E6D-D5B1-1E1B-02C8ADAB3D75}"/>
              </a:ext>
            </a:extLst>
          </p:cNvPr>
          <p:cNvSpPr/>
          <p:nvPr/>
        </p:nvSpPr>
        <p:spPr>
          <a:xfrm>
            <a:off x="7502169" y="3570887"/>
            <a:ext cx="1836597" cy="878186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Логирование результатов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562B775B-9FA1-6BF5-0409-E772074FEE78}"/>
              </a:ext>
            </a:extLst>
          </p:cNvPr>
          <p:cNvCxnSpPr>
            <a:cxnSpLocks/>
            <a:stCxn id="11" idx="3"/>
            <a:endCxn id="15" idx="2"/>
          </p:cNvCxnSpPr>
          <p:nvPr/>
        </p:nvCxnSpPr>
        <p:spPr>
          <a:xfrm flipV="1">
            <a:off x="5628898" y="4438503"/>
            <a:ext cx="936636" cy="7080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3B67A6C1-B0B6-4474-FEBB-26C40218A599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5628898" y="3999410"/>
            <a:ext cx="162565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0FEFAAE4-8215-F8FF-6AA8-6D132D0A906E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7339605" y="3999410"/>
            <a:ext cx="162564" cy="1057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Блок-схема: альтернативный процесс 19">
            <a:extLst>
              <a:ext uri="{FF2B5EF4-FFF2-40B4-BE49-F238E27FC236}">
                <a16:creationId xmlns:a16="http://schemas.microsoft.com/office/drawing/2014/main" id="{E3496803-A6D1-191B-6562-2F3D5E2DFEA5}"/>
              </a:ext>
            </a:extLst>
          </p:cNvPr>
          <p:cNvSpPr/>
          <p:nvPr/>
        </p:nvSpPr>
        <p:spPr>
          <a:xfrm>
            <a:off x="9575438" y="3570887"/>
            <a:ext cx="1548142" cy="878186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Генерация отчётов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304F52FF-3278-661D-C892-6C6DCDA71A0B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9338766" y="4009980"/>
            <a:ext cx="236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Блок-схема: альтернативный процесс 21">
            <a:extLst>
              <a:ext uri="{FF2B5EF4-FFF2-40B4-BE49-F238E27FC236}">
                <a16:creationId xmlns:a16="http://schemas.microsoft.com/office/drawing/2014/main" id="{6BD70DCA-F2B2-0CD2-64A6-4802EDB559A0}"/>
              </a:ext>
            </a:extLst>
          </p:cNvPr>
          <p:cNvSpPr/>
          <p:nvPr/>
        </p:nvSpPr>
        <p:spPr>
          <a:xfrm>
            <a:off x="5849275" y="4703569"/>
            <a:ext cx="1490330" cy="878186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Улучшения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7146937E-7E8F-CC95-F647-AA09F416219F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5628898" y="5132091"/>
            <a:ext cx="220377" cy="10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EC3D69E2-F39E-4620-3922-CCF11AAEAA9C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7339605" y="4449073"/>
            <a:ext cx="1080862" cy="693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17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Двухконтурная модель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Bef>
                <a:spcPts val="1300"/>
              </a:spcBef>
            </a:pPr>
            <a:r>
              <a:rPr lang="ru-RU" dirty="0"/>
              <a:t>Контур 1 (Табличный): Градиентный </a:t>
            </a:r>
            <a:r>
              <a:rPr lang="ru-RU" dirty="0" err="1"/>
              <a:t>бустинг</a:t>
            </a:r>
            <a:r>
              <a:rPr lang="ru-RU" dirty="0"/>
              <a:t> для типовых операций</a:t>
            </a:r>
          </a:p>
          <a:p>
            <a:pPr>
              <a:spcBef>
                <a:spcPts val="1300"/>
              </a:spcBef>
            </a:pPr>
            <a:r>
              <a:rPr lang="ru-RU" dirty="0"/>
              <a:t>Контур 2 (Когнитивный): </a:t>
            </a:r>
            <a:r>
              <a:rPr lang="ru-RU" dirty="0" err="1"/>
              <a:t>Qwen</a:t>
            </a:r>
            <a:r>
              <a:rPr lang="ru-RU" dirty="0"/>
              <a:t> для анализа сложной геометрии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Архитектура решения: Двухконтурная модель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E3BF98-A1B5-48C2-97FB-5F95E8C00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57" y="1836302"/>
            <a:ext cx="5253585" cy="376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83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9DE17A-284C-2E41-93C3-9200CA02CA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78241C-36DA-AB4E-9AD3-95F879081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3F95F2-80C6-8C4D-9EEF-1B0C6D5074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Контур 1. Базовая архитектура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9146A8-906F-D549-86C7-8070DF7723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Базовая архитектуры. Работа с табличными данными</a:t>
            </a: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D12E3B33-2014-1148-A557-995194FEF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04555"/>
              </p:ext>
            </p:extLst>
          </p:nvPr>
        </p:nvGraphicFramePr>
        <p:xfrm>
          <a:off x="585787" y="1985441"/>
          <a:ext cx="4592794" cy="2046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556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071746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071746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071746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Модель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MAE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RMSE	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R²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RandomForest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134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191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0.58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1228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GradientBoosting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166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222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0.44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ExtraTrees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128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192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0.58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149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XGBoost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141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196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0.56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  <a:tr h="1855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LightGBM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150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204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0.52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585539"/>
                  </a:ext>
                </a:extLst>
              </a:tr>
            </a:tbl>
          </a:graphicData>
        </a:graphic>
      </p:graphicFrame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5251084A-0FC0-4873-455E-B70411F86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412057"/>
              </p:ext>
            </p:extLst>
          </p:nvPr>
        </p:nvGraphicFramePr>
        <p:xfrm>
          <a:off x="5905500" y="1984075"/>
          <a:ext cx="5700713" cy="146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090613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Метрика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До оптимизации, значение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"Лазерный Фокус"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	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%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MAE	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130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38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70 %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1228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R²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0.6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0.3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-56 %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Выборка, единицы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23172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11683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-48 %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19200E4-BE00-0CE1-8707-F0C7F9907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613" y="2589577"/>
            <a:ext cx="218978" cy="23934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CB63702-7AEA-90C9-EFF4-C94B596ED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265" y="2932011"/>
            <a:ext cx="234851" cy="20816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E0A7248-6750-5647-161E-D8FB439A4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265" y="3217761"/>
            <a:ext cx="234851" cy="20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831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1AFE7-61AB-D283-BE3F-A965AF87A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94B5CA3-A7C2-23F7-89EE-12BE69A86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Улучшенная архитектура на базе </a:t>
            </a:r>
            <a:r>
              <a:rPr lang="ru-RU" dirty="0" err="1">
                <a:solidFill>
                  <a:srgbClr val="102D69"/>
                </a:solidFill>
              </a:rPr>
              <a:t>Qwen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6F1FF0-C031-C23D-ED09-CA5306705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245561" cy="1992312"/>
          </a:xfrm>
        </p:spPr>
        <p:txBody>
          <a:bodyPr/>
          <a:lstStyle/>
          <a:p>
            <a:pPr>
              <a:spcBef>
                <a:spcPts val="1300"/>
              </a:spcBef>
            </a:pPr>
            <a:r>
              <a:rPr lang="ru-RU" dirty="0"/>
              <a:t>Модель </a:t>
            </a:r>
            <a:r>
              <a:rPr lang="ru-RU" dirty="0" err="1"/>
              <a:t>Qwen</a:t>
            </a:r>
            <a:r>
              <a:rPr lang="ru-RU" dirty="0"/>
              <a:t> сопоставляет текст и визуал через </a:t>
            </a:r>
            <a:r>
              <a:rPr lang="ru-RU" dirty="0" err="1"/>
              <a:t>ViT</a:t>
            </a:r>
            <a:r>
              <a:rPr lang="ru-RU" dirty="0"/>
              <a:t> и языковой блок</a:t>
            </a:r>
          </a:p>
          <a:p>
            <a:pPr>
              <a:spcBef>
                <a:spcPts val="1300"/>
              </a:spcBef>
            </a:pPr>
            <a:r>
              <a:rPr lang="ru-RU" dirty="0"/>
              <a:t>Все найденные признаки сводятся в один числовой вектор</a:t>
            </a:r>
          </a:p>
          <a:p>
            <a:pPr>
              <a:spcBef>
                <a:spcPts val="1300"/>
              </a:spcBef>
            </a:pPr>
            <a:r>
              <a:rPr lang="ru-RU" dirty="0"/>
              <a:t>Регрессионная голова вычисляет финальный прогноз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CCDBFF-AF74-A2C6-6118-66FD5DA59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2745440-ACB6-FDE9-A5E9-B1B820DE97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502F08C-F7B7-11BA-2189-856A727D37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983696" cy="408109"/>
          </a:xfrm>
        </p:spPr>
        <p:txBody>
          <a:bodyPr/>
          <a:lstStyle/>
          <a:p>
            <a:r>
              <a:rPr lang="ru-RU" dirty="0"/>
              <a:t>Контур 2. Улучшенная архитектура на базе </a:t>
            </a:r>
            <a:r>
              <a:rPr lang="ru-RU" dirty="0" err="1"/>
              <a:t>Qwen</a:t>
            </a:r>
            <a:endParaRPr lang="ru-RU" dirty="0"/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C95F033F-9B39-7D4A-3156-1376F6A79D27}"/>
              </a:ext>
            </a:extLst>
          </p:cNvPr>
          <p:cNvSpPr txBox="1">
            <a:spLocks/>
          </p:cNvSpPr>
          <p:nvPr/>
        </p:nvSpPr>
        <p:spPr>
          <a:xfrm>
            <a:off x="585897" y="5027983"/>
            <a:ext cx="4535718" cy="764453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00"/>
              </a:spcBef>
            </a:pPr>
            <a:r>
              <a:rPr lang="ru-RU" sz="1000" dirty="0"/>
              <a:t>Использование </a:t>
            </a:r>
            <a:r>
              <a:rPr lang="ru-RU" sz="1000" dirty="0" err="1"/>
              <a:t>предобученной</a:t>
            </a:r>
            <a:r>
              <a:rPr lang="ru-RU" sz="1000" dirty="0"/>
              <a:t> VLM позволяет модели понимать геометрию объекта на изображении и связывать её с технологическими параметрами, указанными в тексте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E029347-0E66-FE5D-4AC6-3ED7B57C1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362" y="1343025"/>
            <a:ext cx="55721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57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0D2998-65B7-1180-5661-B39187542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239E8CA-DBC4-074A-0B9B-60F37C87F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02D69"/>
                </a:solidFill>
              </a:rPr>
              <a:t>Улучшенная архитектура на базе </a:t>
            </a:r>
            <a:r>
              <a:rPr lang="ru-RU" dirty="0" err="1">
                <a:solidFill>
                  <a:srgbClr val="102D69"/>
                </a:solidFill>
              </a:rPr>
              <a:t>Qwen</a:t>
            </a:r>
            <a:r>
              <a:rPr lang="en-US" dirty="0">
                <a:solidFill>
                  <a:srgbClr val="102D69"/>
                </a:solidFill>
              </a:rPr>
              <a:t> + Qwen + Lora + Prompt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53EB7C-F6E0-7406-86BC-001690C380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2"/>
            <a:ext cx="5245561" cy="2382837"/>
          </a:xfrm>
        </p:spPr>
        <p:txBody>
          <a:bodyPr>
            <a:normAutofit/>
          </a:bodyPr>
          <a:lstStyle/>
          <a:p>
            <a:pPr>
              <a:spcBef>
                <a:spcPts val="1300"/>
              </a:spcBef>
            </a:pPr>
            <a:endParaRPr lang="ru-RU" dirty="0"/>
          </a:p>
          <a:p>
            <a:pPr>
              <a:spcBef>
                <a:spcPts val="1300"/>
              </a:spcBef>
            </a:pPr>
            <a:r>
              <a:rPr lang="ru-RU" dirty="0"/>
              <a:t>Мультимодальность: сложность чертежа и технические данные </a:t>
            </a:r>
          </a:p>
          <a:p>
            <a:pPr>
              <a:spcBef>
                <a:spcPts val="1300"/>
              </a:spcBef>
            </a:pPr>
            <a:r>
              <a:rPr lang="ru-RU" dirty="0"/>
              <a:t>Гибкость: быстрая адаптация под новые типы дизайнов клише</a:t>
            </a:r>
          </a:p>
          <a:p>
            <a:pPr>
              <a:spcBef>
                <a:spcPts val="1300"/>
              </a:spcBef>
            </a:pPr>
            <a:r>
              <a:rPr lang="ru-RU" dirty="0"/>
              <a:t>Стабильность: Встроенная система обработки ошибок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FD278E1-A0A5-257F-DD1C-0465ABEEA5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316102-ADA3-362D-173F-539846186B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DC3D4F3-1C93-2E61-9138-B87F5DF994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983696" cy="408109"/>
          </a:xfrm>
        </p:spPr>
        <p:txBody>
          <a:bodyPr/>
          <a:lstStyle/>
          <a:p>
            <a:r>
              <a:rPr lang="ru-RU" dirty="0"/>
              <a:t>Контур 2. Улучшенная архитектура на базе </a:t>
            </a:r>
            <a:r>
              <a:rPr lang="ru-RU" dirty="0" err="1"/>
              <a:t>Qwen</a:t>
            </a:r>
            <a:r>
              <a:rPr lang="ru-RU" dirty="0"/>
              <a:t> + </a:t>
            </a:r>
            <a:r>
              <a:rPr lang="en-US" dirty="0"/>
              <a:t>Lora + Prompt</a:t>
            </a:r>
            <a:endParaRPr lang="ru-RU" dirty="0"/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6CFEF365-5F23-2615-8B59-D603FD31B9E2}"/>
              </a:ext>
            </a:extLst>
          </p:cNvPr>
          <p:cNvSpPr txBox="1">
            <a:spLocks/>
          </p:cNvSpPr>
          <p:nvPr/>
        </p:nvSpPr>
        <p:spPr>
          <a:xfrm>
            <a:off x="585897" y="5027983"/>
            <a:ext cx="4535718" cy="764453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00"/>
              </a:spcBef>
            </a:pPr>
            <a:r>
              <a:rPr lang="ru-RU" sz="1000" dirty="0"/>
              <a:t>Использование </a:t>
            </a:r>
            <a:r>
              <a:rPr lang="ru-RU" sz="1000" dirty="0" err="1"/>
              <a:t>предобученной</a:t>
            </a:r>
            <a:r>
              <a:rPr lang="ru-RU" sz="1000" dirty="0"/>
              <a:t> VLM позволяет модели понимать геометрию объекта на изображении и связывать её с технологическими параметрами, указанными в тексте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0579AA-246C-1F9F-5502-CB27A4D53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940" y="1685925"/>
            <a:ext cx="57490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22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0D00-A233-1DF1-8AC3-C728A2546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BDF9587-2630-DACB-ACCC-E101DA5FC4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156489-0862-9D80-4627-82C0385CAC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EF9E41-88F6-F034-6262-BE36A00248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Контур 2. Результаты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4A001E-7BC3-51E4-258A-FB71524FD2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7" y="1447064"/>
            <a:ext cx="6824304" cy="537011"/>
          </a:xfrm>
        </p:spPr>
        <p:txBody>
          <a:bodyPr/>
          <a:lstStyle/>
          <a:p>
            <a:r>
              <a:rPr lang="ru-RU" sz="2400" dirty="0"/>
              <a:t>Результаты улучшенной архитектуры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9553430-4FE8-3BB6-3690-B2D84BE15C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ru-RU" sz="1000" dirty="0"/>
              <a:t>Для оценки производственной применимости модели использовался показатель доли прогнозов с допустимой погрешностью (±10%)</a:t>
            </a: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F9C1A7D9-C34C-17AF-4BF7-ACF6033B2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727055"/>
              </p:ext>
            </p:extLst>
          </p:nvPr>
        </p:nvGraphicFramePr>
        <p:xfrm>
          <a:off x="585787" y="1985441"/>
          <a:ext cx="5298001" cy="146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486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576188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595720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766069">
                  <a:extLst>
                    <a:ext uri="{9D8B030D-6E8A-4147-A177-3AD203B41FA5}">
                      <a16:colId xmlns:a16="http://schemas.microsoft.com/office/drawing/2014/main" val="3757490919"/>
                    </a:ext>
                  </a:extLst>
                </a:gridCol>
                <a:gridCol w="835538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Модель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MAE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RMSE	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Cross-Entropy</a:t>
                      </a: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Точность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263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LoRA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 + Prompt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11.90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.</a:t>
                      </a: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09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Qwen2.5-VL + Regress. Head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5.4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9.5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80 %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149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Qwen2.5-VL-3B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3.67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4.13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89 %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18B9DAA-8665-D724-9862-24F4D177F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43" y="1836123"/>
            <a:ext cx="5298002" cy="372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6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DD65-07DC-C287-ED88-D80962D6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A02A0CA-D4B5-0173-B61D-2B314C0075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5BD5EE-09E8-EE30-DAB8-6683E0200B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74B0C6-8554-066B-5D8D-813E1610F8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Программная архитектура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ECA9C2-2D50-2BC8-5BEA-CA01A8EEA9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7" y="1447064"/>
            <a:ext cx="6824304" cy="537011"/>
          </a:xfrm>
        </p:spPr>
        <p:txBody>
          <a:bodyPr/>
          <a:lstStyle/>
          <a:p>
            <a:r>
              <a:rPr lang="ru-RU" sz="2400" dirty="0"/>
              <a:t>Программная архитектура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D0853D-A73E-088B-D4AF-C03C004C7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619" y="4687857"/>
            <a:ext cx="4756193" cy="1381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22C2326-6673-F205-B390-349676C9D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992" y="2252580"/>
            <a:ext cx="3422054" cy="1869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F1E3D53-0E50-92AE-07BF-BDEAD5E025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" y="4563894"/>
            <a:ext cx="2708138" cy="1505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28A262F-825E-1FDA-8060-3397F5169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25" y="2414218"/>
            <a:ext cx="2418665" cy="163877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BEAC9FF-61BC-750C-359A-1DEE83A47B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233" y="2346384"/>
            <a:ext cx="1811411" cy="177578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B878C360-6620-9085-B190-18ACB4CD69FA}"/>
              </a:ext>
            </a:extLst>
          </p:cNvPr>
          <p:cNvSpPr txBox="1">
            <a:spLocks/>
          </p:cNvSpPr>
          <p:nvPr/>
        </p:nvSpPr>
        <p:spPr>
          <a:xfrm>
            <a:off x="1573914" y="1918504"/>
            <a:ext cx="3586931" cy="5370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Веб-сервисы и источники данных</a:t>
            </a:r>
            <a:br>
              <a:rPr lang="ru-RU" sz="1400" dirty="0"/>
            </a:br>
            <a:r>
              <a:rPr lang="ru-RU" sz="1400" dirty="0"/>
              <a:t>1с Предприятие, фреймворк</a:t>
            </a:r>
            <a:r>
              <a:rPr lang="en-US" sz="1400" dirty="0"/>
              <a:t> </a:t>
            </a:r>
            <a:r>
              <a:rPr lang="en-US" sz="1400" dirty="0" err="1"/>
              <a:t>FastAPI</a:t>
            </a:r>
            <a:endParaRPr lang="ru-RU" sz="1400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148523C-A82B-97A5-90CC-DB370013F8DA}"/>
              </a:ext>
            </a:extLst>
          </p:cNvPr>
          <p:cNvSpPr txBox="1">
            <a:spLocks/>
          </p:cNvSpPr>
          <p:nvPr/>
        </p:nvSpPr>
        <p:spPr>
          <a:xfrm>
            <a:off x="1143689" y="4203440"/>
            <a:ext cx="3586931" cy="5370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Платформа</a:t>
            </a:r>
            <a:r>
              <a:rPr lang="en-US" sz="1400" dirty="0"/>
              <a:t> </a:t>
            </a:r>
            <a:r>
              <a:rPr lang="en-US" sz="1400" dirty="0" err="1"/>
              <a:t>MLfow</a:t>
            </a:r>
            <a:endParaRPr lang="ru-RU" sz="1400" dirty="0"/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64F22D9A-B368-AB99-107C-4564536CC41D}"/>
              </a:ext>
            </a:extLst>
          </p:cNvPr>
          <p:cNvSpPr txBox="1">
            <a:spLocks/>
          </p:cNvSpPr>
          <p:nvPr/>
        </p:nvSpPr>
        <p:spPr>
          <a:xfrm>
            <a:off x="5616625" y="4216417"/>
            <a:ext cx="3586931" cy="5370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Платформа</a:t>
            </a:r>
            <a:r>
              <a:rPr lang="en-US" sz="1400" dirty="0"/>
              <a:t> Airflow</a:t>
            </a:r>
            <a:endParaRPr lang="ru-RU" sz="1400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85496A9A-C296-E51B-843A-3DAB71719BFB}"/>
              </a:ext>
            </a:extLst>
          </p:cNvPr>
          <p:cNvSpPr txBox="1">
            <a:spLocks/>
          </p:cNvSpPr>
          <p:nvPr/>
        </p:nvSpPr>
        <p:spPr>
          <a:xfrm>
            <a:off x="9206037" y="1984075"/>
            <a:ext cx="2820404" cy="483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Платформа</a:t>
            </a:r>
            <a:r>
              <a:rPr lang="en-US" sz="1400" dirty="0"/>
              <a:t> Kibana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14888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239B216-F5ED-B348-A1BB-CE8524216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6A2D4-D42B-854C-9F3E-6A8095E58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8F0E61-4402-1545-ABC6-7EB156E5B9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Сравнение результатов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2A84FC5-C615-ED4D-97BC-765AAF5047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9451" y="4103994"/>
            <a:ext cx="2758143" cy="1569661"/>
          </a:xfrm>
        </p:spPr>
        <p:txBody>
          <a:bodyPr/>
          <a:lstStyle/>
          <a:p>
            <a:r>
              <a:rPr lang="ru-RU" dirty="0"/>
              <a:t>Расчётное время </a:t>
            </a:r>
            <a:r>
              <a:rPr lang="en-US" dirty="0"/>
              <a:t>CAD </a:t>
            </a:r>
            <a:r>
              <a:rPr lang="ru-RU" dirty="0"/>
              <a:t>систем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F119484-3D29-A348-BD16-DC41D64EC4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61382" y="4103994"/>
            <a:ext cx="2757612" cy="1569661"/>
          </a:xfrm>
        </p:spPr>
        <p:txBody>
          <a:bodyPr/>
          <a:lstStyle/>
          <a:p>
            <a:r>
              <a:rPr lang="ru-RU" dirty="0"/>
              <a:t>Базовое решение время на основе табличных данных	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E558DF3-421A-AD4A-8AAD-D7C6C3A92B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3313" y="4103994"/>
            <a:ext cx="2757612" cy="1569661"/>
          </a:xfrm>
        </p:spPr>
        <p:txBody>
          <a:bodyPr/>
          <a:lstStyle/>
          <a:p>
            <a:r>
              <a:rPr lang="ru-RU" dirty="0"/>
              <a:t>Улучшенная модель с учётом графических данных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D82ABC5-6628-FA4A-9DBB-38E61DCF39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89451" y="2710235"/>
            <a:ext cx="2758143" cy="1164116"/>
          </a:xfrm>
        </p:spPr>
        <p:txBody>
          <a:bodyPr/>
          <a:lstStyle/>
          <a:p>
            <a:r>
              <a:rPr lang="ru-RU" sz="6600" dirty="0"/>
              <a:t>25-40%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CC25597-0929-B146-8CD4-B783CF82D8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61382" y="2710235"/>
            <a:ext cx="2758143" cy="1164116"/>
          </a:xfrm>
        </p:spPr>
        <p:txBody>
          <a:bodyPr/>
          <a:lstStyle/>
          <a:p>
            <a:r>
              <a:rPr lang="ru-RU" sz="6600" dirty="0"/>
              <a:t>11-22%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4FA5CE5-ECF7-C344-83CF-2D4A06A5041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33313" y="2710235"/>
            <a:ext cx="2758143" cy="1164116"/>
          </a:xfrm>
        </p:spPr>
        <p:txBody>
          <a:bodyPr/>
          <a:lstStyle/>
          <a:p>
            <a:r>
              <a:rPr lang="ru-RU" sz="6600" dirty="0"/>
              <a:t>1-2%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983991-034C-F681-9467-BF1C0AF0D6FE}"/>
              </a:ext>
            </a:extLst>
          </p:cNvPr>
          <p:cNvSpPr txBox="1"/>
          <p:nvPr/>
        </p:nvSpPr>
        <p:spPr>
          <a:xfrm>
            <a:off x="585897" y="2085126"/>
            <a:ext cx="10472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102D69"/>
                </a:solidFill>
              </a:rPr>
              <a:t>Точность определения времени прогнозирования для фрезеровки дизайна клише</a:t>
            </a:r>
            <a:endParaRPr lang="ru-RU" dirty="0"/>
          </a:p>
        </p:txBody>
      </p:sp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FCCBCC13-29D6-5C1F-B9F5-78716A1A451C}"/>
              </a:ext>
            </a:extLst>
          </p:cNvPr>
          <p:cNvSpPr txBox="1">
            <a:spLocks/>
          </p:cNvSpPr>
          <p:nvPr/>
        </p:nvSpPr>
        <p:spPr>
          <a:xfrm>
            <a:off x="576651" y="1440836"/>
            <a:ext cx="5245560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102D69"/>
                </a:solidFill>
              </a:rPr>
              <a:t>Сравнение результатов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5159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Экономический эффект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59A9C6-69C4-5447-8A46-A98387532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7824677" cy="2399371"/>
          </a:xfrm>
        </p:spPr>
        <p:txBody>
          <a:bodyPr>
            <a:normAutofit/>
          </a:bodyPr>
          <a:lstStyle/>
          <a:p>
            <a:r>
              <a:rPr lang="ru-RU" sz="1800" dirty="0"/>
              <a:t>Рост производительности подразделения: 5–10%</a:t>
            </a:r>
            <a:br>
              <a:rPr lang="ru-RU" sz="1800" dirty="0"/>
            </a:br>
            <a:endParaRPr lang="ru-RU" sz="1800" dirty="0"/>
          </a:p>
          <a:p>
            <a:r>
              <a:rPr lang="ru-RU" sz="1800" dirty="0"/>
              <a:t>Оптимизация загрузки оборудования, как следствие отсутствие простоев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Методология подготовки и обработки файлов с дизайнами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Система рассчитывающая сложность выполнения работы с привязкой к цене</a:t>
            </a:r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213E8214-D4D9-F83C-A9C6-493B1A5C5A9F}"/>
              </a:ext>
            </a:extLst>
          </p:cNvPr>
          <p:cNvSpPr txBox="1">
            <a:spLocks/>
          </p:cNvSpPr>
          <p:nvPr/>
        </p:nvSpPr>
        <p:spPr>
          <a:xfrm>
            <a:off x="585898" y="1478813"/>
            <a:ext cx="5245560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102D69"/>
                </a:solidFill>
              </a:rPr>
              <a:t>Экономический эффект</a:t>
            </a:r>
            <a:br>
              <a:rPr lang="ru-RU" dirty="0">
                <a:solidFill>
                  <a:srgbClr val="102D69"/>
                </a:solidFill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5808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DA8C9-3BB0-531D-4BAA-D28E8DFB0D97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Выводы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2449C7-481F-A47D-FC18-4726A69B8E68}"/>
              </a:ext>
            </a:extLst>
          </p:cNvPr>
          <p:cNvSpPr txBox="1"/>
          <p:nvPr/>
        </p:nvSpPr>
        <p:spPr>
          <a:xfrm>
            <a:off x="585897" y="2704251"/>
            <a:ext cx="104726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02D69"/>
                </a:solidFill>
              </a:rPr>
              <a:t>Разработан мультимодальный комплекс, снижающий неопределенность планирования.</a:t>
            </a:r>
          </a:p>
          <a:p>
            <a:endParaRPr lang="ru-RU" dirty="0">
              <a:solidFill>
                <a:srgbClr val="102D69"/>
              </a:solidFill>
            </a:endParaRPr>
          </a:p>
          <a:p>
            <a:r>
              <a:rPr lang="ru-RU" dirty="0">
                <a:solidFill>
                  <a:srgbClr val="102D69"/>
                </a:solidFill>
              </a:rPr>
              <a:t>Научная новизна подтверждена учетом реальной данных процесса через визуальный анализ.</a:t>
            </a:r>
          </a:p>
          <a:p>
            <a:endParaRPr lang="ru-RU" dirty="0">
              <a:solidFill>
                <a:srgbClr val="102D69"/>
              </a:solidFill>
            </a:endParaRPr>
          </a:p>
          <a:p>
            <a:r>
              <a:rPr lang="ru-RU" dirty="0">
                <a:solidFill>
                  <a:srgbClr val="102D69"/>
                </a:solidFill>
              </a:rPr>
              <a:t>Положена основа к разработке методологии к обработке и хранению данных</a:t>
            </a:r>
          </a:p>
          <a:p>
            <a:endParaRPr lang="ru-RU" dirty="0">
              <a:solidFill>
                <a:srgbClr val="102D69"/>
              </a:solidFill>
            </a:endParaRPr>
          </a:p>
          <a:p>
            <a:r>
              <a:rPr lang="ru-RU" dirty="0">
                <a:solidFill>
                  <a:srgbClr val="102D69"/>
                </a:solidFill>
              </a:rPr>
              <a:t>Система готова к масштабированию и может использоваться в промышленной эксплуатации</a:t>
            </a:r>
          </a:p>
        </p:txBody>
      </p:sp>
    </p:spTree>
    <p:extLst>
      <p:ext uri="{BB962C8B-B14F-4D97-AF65-F5344CB8AC3E}">
        <p14:creationId xmlns:p14="http://schemas.microsoft.com/office/powerpoint/2010/main" val="3576663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</a:t>
            </a:r>
          </a:p>
          <a:p>
            <a:r>
              <a:rPr lang="ru-RU" dirty="0"/>
              <a:t>«Искусственный интеллект»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Планирование работы фрезерных станков с использованием ИИ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8B687-BEA0-9194-E7C0-E7DB28F1FC51}"/>
              </a:ext>
            </a:extLst>
          </p:cNvPr>
          <p:cNvSpPr txBox="1"/>
          <p:nvPr/>
        </p:nvSpPr>
        <p:spPr>
          <a:xfrm>
            <a:off x="585897" y="2704251"/>
            <a:ext cx="10472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102D69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10303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24241</TotalTime>
  <Words>1058</Words>
  <Application>Microsoft Office PowerPoint</Application>
  <PresentationFormat>Широкоэкранный</PresentationFormat>
  <Paragraphs>251</Paragraphs>
  <Slides>20</Slides>
  <Notes>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-apple-system</vt:lpstr>
      <vt:lpstr>Arial</vt:lpstr>
      <vt:lpstr>Calibri</vt:lpstr>
      <vt:lpstr>Calibri Light</vt:lpstr>
      <vt:lpstr>HSE Sans</vt:lpstr>
      <vt:lpstr>Тема Office</vt:lpstr>
      <vt:lpstr>Планирование работы фрезерных станков с использованием ИИ </vt:lpstr>
      <vt:lpstr>Характер задачи</vt:lpstr>
      <vt:lpstr>О проекте </vt:lpstr>
      <vt:lpstr>Экспериментальное подтверждение </vt:lpstr>
      <vt:lpstr>Поставленные задачи </vt:lpstr>
      <vt:lpstr>Источники данные</vt:lpstr>
      <vt:lpstr>Инженерия признаков</vt:lpstr>
      <vt:lpstr>Выявление аномалий</vt:lpstr>
      <vt:lpstr>Метрики качества прогнозирования</vt:lpstr>
      <vt:lpstr>Структура проекта</vt:lpstr>
      <vt:lpstr>Двухконтурная модель</vt:lpstr>
      <vt:lpstr>Презентация PowerPoint</vt:lpstr>
      <vt:lpstr>Улучшенная архитектура на базе Qwen</vt:lpstr>
      <vt:lpstr>Улучшенная архитектура на базе Qwen + Qwen + Lora + Prompt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Барабанова Мария Сергеевна</dc:creator>
  <cp:lastModifiedBy>Vladimir Datsiuk</cp:lastModifiedBy>
  <cp:revision>50</cp:revision>
  <dcterms:created xsi:type="dcterms:W3CDTF">2021-12-23T09:05:15Z</dcterms:created>
  <dcterms:modified xsi:type="dcterms:W3CDTF">2026-05-13T17:54:02Z</dcterms:modified>
</cp:coreProperties>
</file>